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5.png" ContentType="image/png"/>
  <Override PartName="/ppt/media/image14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7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.jpeg" ContentType="image/jpeg"/>
  <Override PartName="/ppt/media/image15.png" ContentType="image/png"/>
  <Override PartName="/ppt/media/image6.png" ContentType="image/png"/>
  <Override PartName="/ppt/media/image10.png" ContentType="image/png"/>
  <Override PartName="/ppt/media/image21.png" ContentType="image/png"/>
  <Override PartName="/ppt/media/image19.png" ContentType="image/png"/>
  <Override PartName="/ppt/media/media4.mp4" ContentType="video/mp4"/>
  <Override PartName="/ppt/media/image26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06450-0FD9-4C38-A67E-BF302952D93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048542-B5F2-4C49-99EF-F5254E130584}">
      <dgm:prSet/>
      <dgm:spPr/>
      <dgm:t>
        <a:bodyPr/>
        <a:lstStyle/>
        <a:p>
          <a:r>
            <a:rPr lang="el-GR" dirty="0"/>
            <a:t>Αναλύσαμε το </a:t>
          </a:r>
          <a:r>
            <a:rPr lang="en-US" dirty="0"/>
            <a:t>head </a:t>
          </a:r>
          <a:r>
            <a:rPr lang="el-GR" dirty="0"/>
            <a:t>του αρχείου </a:t>
          </a:r>
          <a:r>
            <a:rPr lang="en-US" dirty="0"/>
            <a:t>csv. </a:t>
          </a:r>
        </a:p>
      </dgm:t>
    </dgm:pt>
    <dgm:pt modelId="{29C894CB-6029-4A33-A574-5AB464A02891}" type="parTrans" cxnId="{1B675789-E08A-41F5-BD81-847988242B4D}">
      <dgm:prSet/>
      <dgm:spPr/>
      <dgm:t>
        <a:bodyPr/>
        <a:lstStyle/>
        <a:p>
          <a:endParaRPr lang="en-US"/>
        </a:p>
      </dgm:t>
    </dgm:pt>
    <dgm:pt modelId="{67C35D9C-BA41-455A-A5B3-7B1A8DBF1221}" type="sibTrans" cxnId="{1B675789-E08A-41F5-BD81-847988242B4D}">
      <dgm:prSet/>
      <dgm:spPr/>
      <dgm:t>
        <a:bodyPr/>
        <a:lstStyle/>
        <a:p>
          <a:endParaRPr lang="en-US"/>
        </a:p>
      </dgm:t>
    </dgm:pt>
    <dgm:pt modelId="{6E1502D4-B998-4BE3-A090-70FFEB3469FB}">
      <dgm:prSet/>
      <dgm:spPr/>
      <dgm:t>
        <a:bodyPr/>
        <a:lstStyle/>
        <a:p>
          <a:r>
            <a:rPr lang="el-GR"/>
            <a:t>2 στήλες που μας ενδιαφέρουν:</a:t>
          </a:r>
          <a:r>
            <a:rPr lang="en-US"/>
            <a:t> cpu usage &amp; memory usage</a:t>
          </a:r>
        </a:p>
      </dgm:t>
    </dgm:pt>
    <dgm:pt modelId="{3A17B14B-932E-48CF-AEDB-718645D29E3E}" type="parTrans" cxnId="{90AF6829-8FBB-4B2A-975C-DF0AD4256598}">
      <dgm:prSet/>
      <dgm:spPr/>
      <dgm:t>
        <a:bodyPr/>
        <a:lstStyle/>
        <a:p>
          <a:endParaRPr lang="en-US"/>
        </a:p>
      </dgm:t>
    </dgm:pt>
    <dgm:pt modelId="{EF163014-F20A-40BB-815B-E8C67202FF92}" type="sibTrans" cxnId="{90AF6829-8FBB-4B2A-975C-DF0AD4256598}">
      <dgm:prSet/>
      <dgm:spPr/>
      <dgm:t>
        <a:bodyPr/>
        <a:lstStyle/>
        <a:p>
          <a:endParaRPr lang="en-US"/>
        </a:p>
      </dgm:t>
    </dgm:pt>
    <dgm:pt modelId="{69AECF04-738E-4D48-B2A5-A9569C06B8F0}">
      <dgm:prSet/>
      <dgm:spPr/>
      <dgm:t>
        <a:bodyPr/>
        <a:lstStyle/>
        <a:p>
          <a:r>
            <a:rPr lang="el-GR"/>
            <a:t>Διαγράψαμε τελείως τα </a:t>
          </a:r>
          <a:r>
            <a:rPr lang="en-US"/>
            <a:t>rows </a:t>
          </a:r>
          <a:r>
            <a:rPr lang="el-GR"/>
            <a:t>με </a:t>
          </a:r>
          <a:r>
            <a:rPr lang="en-US"/>
            <a:t>NaN </a:t>
          </a:r>
          <a:r>
            <a:rPr lang="el-GR"/>
            <a:t>τιμές.</a:t>
          </a:r>
          <a:endParaRPr lang="en-US"/>
        </a:p>
      </dgm:t>
    </dgm:pt>
    <dgm:pt modelId="{B4A5BB25-89E9-4989-A4E8-F9FC0D0E779D}" type="parTrans" cxnId="{023BFFFF-D944-4392-9956-03EC7C1E2B5F}">
      <dgm:prSet/>
      <dgm:spPr/>
      <dgm:t>
        <a:bodyPr/>
        <a:lstStyle/>
        <a:p>
          <a:endParaRPr lang="en-US"/>
        </a:p>
      </dgm:t>
    </dgm:pt>
    <dgm:pt modelId="{2DF8A08A-3988-47E5-A2EE-F14C748DD44E}" type="sibTrans" cxnId="{023BFFFF-D944-4392-9956-03EC7C1E2B5F}">
      <dgm:prSet/>
      <dgm:spPr/>
      <dgm:t>
        <a:bodyPr/>
        <a:lstStyle/>
        <a:p>
          <a:endParaRPr lang="en-US"/>
        </a:p>
      </dgm:t>
    </dgm:pt>
    <dgm:pt modelId="{9DC1DC46-FCE6-4A79-8A4B-BE79C5C5A41D}">
      <dgm:prSet/>
      <dgm:spPr/>
      <dgm:t>
        <a:bodyPr/>
        <a:lstStyle/>
        <a:p>
          <a:r>
            <a:rPr lang="el-GR"/>
            <a:t>Υπολογίσαμε </a:t>
          </a:r>
          <a:r>
            <a:rPr lang="en-US"/>
            <a:t>minimum &amp; maximum </a:t>
          </a:r>
          <a:r>
            <a:rPr lang="el-GR"/>
            <a:t>τιμές για κάθε στήλη.</a:t>
          </a:r>
          <a:endParaRPr lang="en-US"/>
        </a:p>
      </dgm:t>
    </dgm:pt>
    <dgm:pt modelId="{4E3F1A9C-6806-4656-B423-98CE2896CB4C}" type="parTrans" cxnId="{4A3C1F1C-3308-4794-B142-4A24792660AE}">
      <dgm:prSet/>
      <dgm:spPr/>
      <dgm:t>
        <a:bodyPr/>
        <a:lstStyle/>
        <a:p>
          <a:endParaRPr lang="en-US"/>
        </a:p>
      </dgm:t>
    </dgm:pt>
    <dgm:pt modelId="{CCD003A7-38C0-4E8D-8DBB-144A0DBE8D65}" type="sibTrans" cxnId="{4A3C1F1C-3308-4794-B142-4A24792660AE}">
      <dgm:prSet/>
      <dgm:spPr/>
      <dgm:t>
        <a:bodyPr/>
        <a:lstStyle/>
        <a:p>
          <a:endParaRPr lang="en-US"/>
        </a:p>
      </dgm:t>
    </dgm:pt>
    <dgm:pt modelId="{DB55FED5-52A8-4E9B-9EEA-FBEB8FCDB7D3}">
      <dgm:prSet/>
      <dgm:spPr/>
      <dgm:t>
        <a:bodyPr/>
        <a:lstStyle/>
        <a:p>
          <a:r>
            <a:rPr lang="el-GR" dirty="0"/>
            <a:t>Μέσω της συνάρτησης </a:t>
          </a:r>
          <a:r>
            <a:rPr lang="en-US" dirty="0" err="1"/>
            <a:t>calculate_volatility</a:t>
          </a:r>
          <a:r>
            <a:rPr lang="en-US" dirty="0"/>
            <a:t> </a:t>
          </a:r>
          <a:r>
            <a:rPr lang="el-GR" dirty="0"/>
            <a:t>βρήκαμε ποια </a:t>
          </a:r>
          <a:r>
            <a:rPr lang="en-US" dirty="0"/>
            <a:t>nodes </a:t>
          </a:r>
          <a:r>
            <a:rPr lang="el-GR" dirty="0"/>
            <a:t>είχαν ακραίες διακυμάνσεις σε σύντομο χρονικό διάστημα (</a:t>
          </a:r>
          <a:r>
            <a:rPr lang="en-US" dirty="0"/>
            <a:t>threshold 0.75 </a:t>
          </a:r>
          <a:r>
            <a:rPr lang="el-GR" dirty="0"/>
            <a:t>σε &lt; </a:t>
          </a:r>
          <a:r>
            <a:rPr lang="en-US" dirty="0"/>
            <a:t>3 </a:t>
          </a:r>
          <a:r>
            <a:rPr lang="en-US" dirty="0" err="1"/>
            <a:t>ts</a:t>
          </a:r>
          <a:r>
            <a:rPr lang="el-GR" dirty="0"/>
            <a:t>)</a:t>
          </a:r>
          <a:r>
            <a:rPr lang="en-US" dirty="0"/>
            <a:t>.</a:t>
          </a:r>
        </a:p>
      </dgm:t>
    </dgm:pt>
    <dgm:pt modelId="{A891FD0B-E8E4-4536-9413-31C97E22805F}" type="parTrans" cxnId="{2999CDCD-268C-407B-9400-908DCDDB2279}">
      <dgm:prSet/>
      <dgm:spPr/>
      <dgm:t>
        <a:bodyPr/>
        <a:lstStyle/>
        <a:p>
          <a:endParaRPr lang="en-US"/>
        </a:p>
      </dgm:t>
    </dgm:pt>
    <dgm:pt modelId="{A447FAA1-F0A8-485C-8C27-2070C746F1D2}" type="sibTrans" cxnId="{2999CDCD-268C-407B-9400-908DCDDB2279}">
      <dgm:prSet/>
      <dgm:spPr/>
      <dgm:t>
        <a:bodyPr/>
        <a:lstStyle/>
        <a:p>
          <a:endParaRPr lang="en-US"/>
        </a:p>
      </dgm:t>
    </dgm:pt>
    <dgm:pt modelId="{77FEC50C-6405-486A-AD44-6FC41B5FC5A8}">
      <dgm:prSet/>
      <dgm:spPr/>
      <dgm:t>
        <a:bodyPr/>
        <a:lstStyle/>
        <a:p>
          <a:r>
            <a:rPr lang="el-GR"/>
            <a:t>Βρήκαμε τα </a:t>
          </a:r>
          <a:r>
            <a:rPr lang="en-US"/>
            <a:t>nodes </a:t>
          </a:r>
          <a:r>
            <a:rPr lang="el-GR"/>
            <a:t>με συνεχόμενο </a:t>
          </a:r>
          <a:r>
            <a:rPr lang="en-US"/>
            <a:t>high cpu usage (&gt;0.9 </a:t>
          </a:r>
          <a:r>
            <a:rPr lang="el-GR"/>
            <a:t>για παραπάνω από το 50% των </a:t>
          </a:r>
          <a:r>
            <a:rPr lang="en-US"/>
            <a:t>ts) </a:t>
          </a:r>
          <a:r>
            <a:rPr lang="el-GR"/>
            <a:t>και αντίστοιχα για </a:t>
          </a:r>
          <a:r>
            <a:rPr lang="en-US"/>
            <a:t>low usage </a:t>
          </a:r>
          <a:r>
            <a:rPr lang="el-GR"/>
            <a:t>(&lt;0.1) και </a:t>
          </a:r>
          <a:r>
            <a:rPr lang="en-US"/>
            <a:t>super low usage (&lt;0.05).</a:t>
          </a:r>
        </a:p>
      </dgm:t>
    </dgm:pt>
    <dgm:pt modelId="{4E00A4D9-6DC8-48BF-BC7E-448657EB2ECA}" type="parTrans" cxnId="{80CD5E25-733B-4768-9ABA-F81FCDC03D56}">
      <dgm:prSet/>
      <dgm:spPr/>
      <dgm:t>
        <a:bodyPr/>
        <a:lstStyle/>
        <a:p>
          <a:endParaRPr lang="en-US"/>
        </a:p>
      </dgm:t>
    </dgm:pt>
    <dgm:pt modelId="{15B2A2D5-BF25-40AD-84ED-AE99BDA72072}" type="sibTrans" cxnId="{80CD5E25-733B-4768-9ABA-F81FCDC03D56}">
      <dgm:prSet/>
      <dgm:spPr/>
      <dgm:t>
        <a:bodyPr/>
        <a:lstStyle/>
        <a:p>
          <a:endParaRPr lang="en-US"/>
        </a:p>
      </dgm:t>
    </dgm:pt>
    <dgm:pt modelId="{E53A7142-FDAB-421F-9A0B-9800894CCD7C}">
      <dgm:prSet/>
      <dgm:spPr/>
      <dgm:t>
        <a:bodyPr/>
        <a:lstStyle/>
        <a:p>
          <a:r>
            <a:rPr lang="el-GR"/>
            <a:t>Ταξινομήσαμε τα δεδομένα μας πρώτα βάση </a:t>
          </a:r>
          <a:r>
            <a:rPr lang="en-US"/>
            <a:t>nodeid </a:t>
          </a:r>
          <a:r>
            <a:rPr lang="el-GR"/>
            <a:t>και στη συνέχεια βάση </a:t>
          </a:r>
          <a:r>
            <a:rPr lang="en-US"/>
            <a:t>timestamp</a:t>
          </a:r>
        </a:p>
      </dgm:t>
    </dgm:pt>
    <dgm:pt modelId="{E52EB69A-C88C-44A1-9A7A-ABEB3EF45E87}" type="parTrans" cxnId="{6CCEEE99-6C5D-4428-AD16-636EDB308BC3}">
      <dgm:prSet/>
      <dgm:spPr/>
      <dgm:t>
        <a:bodyPr/>
        <a:lstStyle/>
        <a:p>
          <a:endParaRPr lang="en-US"/>
        </a:p>
      </dgm:t>
    </dgm:pt>
    <dgm:pt modelId="{23978B2C-4549-4D73-8752-306EEBBB226E}" type="sibTrans" cxnId="{6CCEEE99-6C5D-4428-AD16-636EDB308BC3}">
      <dgm:prSet/>
      <dgm:spPr/>
      <dgm:t>
        <a:bodyPr/>
        <a:lstStyle/>
        <a:p>
          <a:endParaRPr lang="en-US"/>
        </a:p>
      </dgm:t>
    </dgm:pt>
    <dgm:pt modelId="{EE8FBEAB-9096-4FF6-8E20-D619DEE6467F}">
      <dgm:prSet/>
      <dgm:spPr/>
      <dgm:t>
        <a:bodyPr/>
        <a:lstStyle/>
        <a:p>
          <a:r>
            <a:rPr lang="el-GR" dirty="0"/>
            <a:t>Βρήκαμε ποια </a:t>
          </a:r>
          <a:r>
            <a:rPr lang="en-US" dirty="0"/>
            <a:t>nodes </a:t>
          </a:r>
          <a:r>
            <a:rPr lang="el-GR" dirty="0"/>
            <a:t>έχουν χαμηλό </a:t>
          </a:r>
          <a:r>
            <a:rPr lang="en-US" dirty="0"/>
            <a:t>volatility </a:t>
          </a:r>
          <a:r>
            <a:rPr lang="el-GR" dirty="0"/>
            <a:t>(&lt;0.1 για πάνω από</a:t>
          </a:r>
          <a:r>
            <a:rPr lang="en-US" dirty="0"/>
            <a:t> 50% </a:t>
          </a:r>
          <a:r>
            <a:rPr lang="en-US" dirty="0" err="1"/>
            <a:t>ts</a:t>
          </a:r>
          <a:r>
            <a:rPr lang="el-GR" dirty="0"/>
            <a:t>)</a:t>
          </a:r>
          <a:r>
            <a:rPr lang="en-US" dirty="0"/>
            <a:t> </a:t>
          </a:r>
          <a:r>
            <a:rPr lang="el-GR" dirty="0"/>
            <a:t>και παρατηρήσαμε ότι σε όλα τα </a:t>
          </a:r>
          <a:r>
            <a:rPr lang="en-US" dirty="0"/>
            <a:t>nodes </a:t>
          </a:r>
          <a:r>
            <a:rPr lang="el-GR" dirty="0"/>
            <a:t>το </a:t>
          </a:r>
          <a:r>
            <a:rPr lang="en-US" dirty="0"/>
            <a:t>memory usage </a:t>
          </a:r>
          <a:r>
            <a:rPr lang="el-GR" dirty="0"/>
            <a:t>παρουσιάζει πολύ μικρές αλλαγές. </a:t>
          </a:r>
          <a:endParaRPr lang="en-US" dirty="0"/>
        </a:p>
      </dgm:t>
    </dgm:pt>
    <dgm:pt modelId="{5144F1CC-2F7E-4D34-9A92-79F56EFEFDBD}" type="parTrans" cxnId="{60971958-8970-4C84-BA1E-753174C2E7A3}">
      <dgm:prSet/>
      <dgm:spPr/>
      <dgm:t>
        <a:bodyPr/>
        <a:lstStyle/>
        <a:p>
          <a:endParaRPr lang="en-US"/>
        </a:p>
      </dgm:t>
    </dgm:pt>
    <dgm:pt modelId="{FFBD23C5-54B1-49F3-BE9B-C8640B7C8E88}" type="sibTrans" cxnId="{60971958-8970-4C84-BA1E-753174C2E7A3}">
      <dgm:prSet/>
      <dgm:spPr/>
      <dgm:t>
        <a:bodyPr/>
        <a:lstStyle/>
        <a:p>
          <a:endParaRPr lang="en-US"/>
        </a:p>
      </dgm:t>
    </dgm:pt>
    <dgm:pt modelId="{52FD258D-797A-4020-9B09-140CA0A25E59}" type="pres">
      <dgm:prSet presAssocID="{7BA06450-0FD9-4C38-A67E-BF302952D933}" presName="Name0" presStyleCnt="0">
        <dgm:presLayoutVars>
          <dgm:dir/>
          <dgm:resizeHandles val="exact"/>
        </dgm:presLayoutVars>
      </dgm:prSet>
      <dgm:spPr/>
    </dgm:pt>
    <dgm:pt modelId="{7D895918-EDBC-4708-95A5-3C170E63A7CE}" type="pres">
      <dgm:prSet presAssocID="{CC048542-B5F2-4C49-99EF-F5254E130584}" presName="node" presStyleLbl="node1" presStyleIdx="0" presStyleCnt="8">
        <dgm:presLayoutVars>
          <dgm:bulletEnabled val="1"/>
        </dgm:presLayoutVars>
      </dgm:prSet>
      <dgm:spPr/>
    </dgm:pt>
    <dgm:pt modelId="{82663C0E-3342-49A7-8DE7-DC3266CF0198}" type="pres">
      <dgm:prSet presAssocID="{67C35D9C-BA41-455A-A5B3-7B1A8DBF1221}" presName="sibTrans" presStyleLbl="sibTrans1D1" presStyleIdx="0" presStyleCnt="7"/>
      <dgm:spPr/>
    </dgm:pt>
    <dgm:pt modelId="{4030B78E-AC61-4A46-87D0-26A74B71CB77}" type="pres">
      <dgm:prSet presAssocID="{67C35D9C-BA41-455A-A5B3-7B1A8DBF1221}" presName="connectorText" presStyleLbl="sibTrans1D1" presStyleIdx="0" presStyleCnt="7"/>
      <dgm:spPr/>
    </dgm:pt>
    <dgm:pt modelId="{41AD49D3-FEB7-4180-90DD-A7CA270A250E}" type="pres">
      <dgm:prSet presAssocID="{6E1502D4-B998-4BE3-A090-70FFEB3469FB}" presName="node" presStyleLbl="node1" presStyleIdx="1" presStyleCnt="8">
        <dgm:presLayoutVars>
          <dgm:bulletEnabled val="1"/>
        </dgm:presLayoutVars>
      </dgm:prSet>
      <dgm:spPr/>
    </dgm:pt>
    <dgm:pt modelId="{546F1B08-F495-4D4F-A705-E4BACFE3F39D}" type="pres">
      <dgm:prSet presAssocID="{EF163014-F20A-40BB-815B-E8C67202FF92}" presName="sibTrans" presStyleLbl="sibTrans1D1" presStyleIdx="1" presStyleCnt="7"/>
      <dgm:spPr/>
    </dgm:pt>
    <dgm:pt modelId="{B9F90648-73AF-47E9-9EEB-C5B32C2FE120}" type="pres">
      <dgm:prSet presAssocID="{EF163014-F20A-40BB-815B-E8C67202FF92}" presName="connectorText" presStyleLbl="sibTrans1D1" presStyleIdx="1" presStyleCnt="7"/>
      <dgm:spPr/>
    </dgm:pt>
    <dgm:pt modelId="{B9929734-45D0-4510-B9A6-AC4169292BE3}" type="pres">
      <dgm:prSet presAssocID="{69AECF04-738E-4D48-B2A5-A9569C06B8F0}" presName="node" presStyleLbl="node1" presStyleIdx="2" presStyleCnt="8">
        <dgm:presLayoutVars>
          <dgm:bulletEnabled val="1"/>
        </dgm:presLayoutVars>
      </dgm:prSet>
      <dgm:spPr/>
    </dgm:pt>
    <dgm:pt modelId="{E2E266E8-F22C-4B87-A9D6-E647496831DB}" type="pres">
      <dgm:prSet presAssocID="{2DF8A08A-3988-47E5-A2EE-F14C748DD44E}" presName="sibTrans" presStyleLbl="sibTrans1D1" presStyleIdx="2" presStyleCnt="7"/>
      <dgm:spPr/>
    </dgm:pt>
    <dgm:pt modelId="{AD6D29D1-3F2D-4100-B402-747537F7EA2E}" type="pres">
      <dgm:prSet presAssocID="{2DF8A08A-3988-47E5-A2EE-F14C748DD44E}" presName="connectorText" presStyleLbl="sibTrans1D1" presStyleIdx="2" presStyleCnt="7"/>
      <dgm:spPr/>
    </dgm:pt>
    <dgm:pt modelId="{33138A4C-B783-4CBC-8AC9-AE644E89556B}" type="pres">
      <dgm:prSet presAssocID="{9DC1DC46-FCE6-4A79-8A4B-BE79C5C5A41D}" presName="node" presStyleLbl="node1" presStyleIdx="3" presStyleCnt="8">
        <dgm:presLayoutVars>
          <dgm:bulletEnabled val="1"/>
        </dgm:presLayoutVars>
      </dgm:prSet>
      <dgm:spPr/>
    </dgm:pt>
    <dgm:pt modelId="{AC46CE99-662E-4952-8CD5-1617BE0AD074}" type="pres">
      <dgm:prSet presAssocID="{CCD003A7-38C0-4E8D-8DBB-144A0DBE8D65}" presName="sibTrans" presStyleLbl="sibTrans1D1" presStyleIdx="3" presStyleCnt="7"/>
      <dgm:spPr/>
    </dgm:pt>
    <dgm:pt modelId="{0B6FBB9C-5541-4177-9AA2-C5E96554FBB8}" type="pres">
      <dgm:prSet presAssocID="{CCD003A7-38C0-4E8D-8DBB-144A0DBE8D65}" presName="connectorText" presStyleLbl="sibTrans1D1" presStyleIdx="3" presStyleCnt="7"/>
      <dgm:spPr/>
    </dgm:pt>
    <dgm:pt modelId="{52F711C1-78EE-47A2-A763-4407A5301DFC}" type="pres">
      <dgm:prSet presAssocID="{DB55FED5-52A8-4E9B-9EEA-FBEB8FCDB7D3}" presName="node" presStyleLbl="node1" presStyleIdx="4" presStyleCnt="8">
        <dgm:presLayoutVars>
          <dgm:bulletEnabled val="1"/>
        </dgm:presLayoutVars>
      </dgm:prSet>
      <dgm:spPr/>
    </dgm:pt>
    <dgm:pt modelId="{D5A346DF-82F0-434A-8D31-5B74AE640387}" type="pres">
      <dgm:prSet presAssocID="{A447FAA1-F0A8-485C-8C27-2070C746F1D2}" presName="sibTrans" presStyleLbl="sibTrans1D1" presStyleIdx="4" presStyleCnt="7"/>
      <dgm:spPr/>
    </dgm:pt>
    <dgm:pt modelId="{0FD099AB-E953-4D27-90E3-36FFAEC57716}" type="pres">
      <dgm:prSet presAssocID="{A447FAA1-F0A8-485C-8C27-2070C746F1D2}" presName="connectorText" presStyleLbl="sibTrans1D1" presStyleIdx="4" presStyleCnt="7"/>
      <dgm:spPr/>
    </dgm:pt>
    <dgm:pt modelId="{1C3B1AF4-E850-4BB9-8999-EA281BF1A5FD}" type="pres">
      <dgm:prSet presAssocID="{77FEC50C-6405-486A-AD44-6FC41B5FC5A8}" presName="node" presStyleLbl="node1" presStyleIdx="5" presStyleCnt="8">
        <dgm:presLayoutVars>
          <dgm:bulletEnabled val="1"/>
        </dgm:presLayoutVars>
      </dgm:prSet>
      <dgm:spPr/>
    </dgm:pt>
    <dgm:pt modelId="{B7D5557A-5CEA-4EF9-AF77-9D045CF0A3A9}" type="pres">
      <dgm:prSet presAssocID="{15B2A2D5-BF25-40AD-84ED-AE99BDA72072}" presName="sibTrans" presStyleLbl="sibTrans1D1" presStyleIdx="5" presStyleCnt="7"/>
      <dgm:spPr/>
    </dgm:pt>
    <dgm:pt modelId="{B141A206-DF2E-4CAA-86AC-6363B3F5696F}" type="pres">
      <dgm:prSet presAssocID="{15B2A2D5-BF25-40AD-84ED-AE99BDA72072}" presName="connectorText" presStyleLbl="sibTrans1D1" presStyleIdx="5" presStyleCnt="7"/>
      <dgm:spPr/>
    </dgm:pt>
    <dgm:pt modelId="{97DA1124-C68F-46E2-9414-3FD561EE1D2B}" type="pres">
      <dgm:prSet presAssocID="{E53A7142-FDAB-421F-9A0B-9800894CCD7C}" presName="node" presStyleLbl="node1" presStyleIdx="6" presStyleCnt="8">
        <dgm:presLayoutVars>
          <dgm:bulletEnabled val="1"/>
        </dgm:presLayoutVars>
      </dgm:prSet>
      <dgm:spPr/>
    </dgm:pt>
    <dgm:pt modelId="{ACA0A307-979D-4A86-A870-0FAE237D71CB}" type="pres">
      <dgm:prSet presAssocID="{23978B2C-4549-4D73-8752-306EEBBB226E}" presName="sibTrans" presStyleLbl="sibTrans1D1" presStyleIdx="6" presStyleCnt="7"/>
      <dgm:spPr/>
    </dgm:pt>
    <dgm:pt modelId="{D8E20EFB-FBE5-4F4A-AC67-B556E0DA3955}" type="pres">
      <dgm:prSet presAssocID="{23978B2C-4549-4D73-8752-306EEBBB226E}" presName="connectorText" presStyleLbl="sibTrans1D1" presStyleIdx="6" presStyleCnt="7"/>
      <dgm:spPr/>
    </dgm:pt>
    <dgm:pt modelId="{082DED6D-A25F-4EEE-839E-A8BF6082ADDC}" type="pres">
      <dgm:prSet presAssocID="{EE8FBEAB-9096-4FF6-8E20-D619DEE6467F}" presName="node" presStyleLbl="node1" presStyleIdx="7" presStyleCnt="8">
        <dgm:presLayoutVars>
          <dgm:bulletEnabled val="1"/>
        </dgm:presLayoutVars>
      </dgm:prSet>
      <dgm:spPr/>
    </dgm:pt>
  </dgm:ptLst>
  <dgm:cxnLst>
    <dgm:cxn modelId="{8B1CFC09-582E-4CD4-88E4-977EC0BA7D6A}" type="presOf" srcId="{9DC1DC46-FCE6-4A79-8A4B-BE79C5C5A41D}" destId="{33138A4C-B783-4CBC-8AC9-AE644E89556B}" srcOrd="0" destOrd="0" presId="urn:microsoft.com/office/officeart/2016/7/layout/RepeatingBendingProcessNew"/>
    <dgm:cxn modelId="{CA0B490C-30C0-4C17-AB77-28A5C74EA503}" type="presOf" srcId="{2DF8A08A-3988-47E5-A2EE-F14C748DD44E}" destId="{E2E266E8-F22C-4B87-A9D6-E647496831DB}" srcOrd="0" destOrd="0" presId="urn:microsoft.com/office/officeart/2016/7/layout/RepeatingBendingProcessNew"/>
    <dgm:cxn modelId="{4A3C1F1C-3308-4794-B142-4A24792660AE}" srcId="{7BA06450-0FD9-4C38-A67E-BF302952D933}" destId="{9DC1DC46-FCE6-4A79-8A4B-BE79C5C5A41D}" srcOrd="3" destOrd="0" parTransId="{4E3F1A9C-6806-4656-B423-98CE2896CB4C}" sibTransId="{CCD003A7-38C0-4E8D-8DBB-144A0DBE8D65}"/>
    <dgm:cxn modelId="{80CD5E25-733B-4768-9ABA-F81FCDC03D56}" srcId="{7BA06450-0FD9-4C38-A67E-BF302952D933}" destId="{77FEC50C-6405-486A-AD44-6FC41B5FC5A8}" srcOrd="5" destOrd="0" parTransId="{4E00A4D9-6DC8-48BF-BC7E-448657EB2ECA}" sibTransId="{15B2A2D5-BF25-40AD-84ED-AE99BDA72072}"/>
    <dgm:cxn modelId="{90AF6829-8FBB-4B2A-975C-DF0AD4256598}" srcId="{7BA06450-0FD9-4C38-A67E-BF302952D933}" destId="{6E1502D4-B998-4BE3-A090-70FFEB3469FB}" srcOrd="1" destOrd="0" parTransId="{3A17B14B-932E-48CF-AEDB-718645D29E3E}" sibTransId="{EF163014-F20A-40BB-815B-E8C67202FF92}"/>
    <dgm:cxn modelId="{48E7F530-4730-4022-A78A-241A0B003D43}" type="presOf" srcId="{69AECF04-738E-4D48-B2A5-A9569C06B8F0}" destId="{B9929734-45D0-4510-B9A6-AC4169292BE3}" srcOrd="0" destOrd="0" presId="urn:microsoft.com/office/officeart/2016/7/layout/RepeatingBendingProcessNew"/>
    <dgm:cxn modelId="{9B954632-64CD-459E-88BD-90EEEE635676}" type="presOf" srcId="{23978B2C-4549-4D73-8752-306EEBBB226E}" destId="{D8E20EFB-FBE5-4F4A-AC67-B556E0DA3955}" srcOrd="1" destOrd="0" presId="urn:microsoft.com/office/officeart/2016/7/layout/RepeatingBendingProcessNew"/>
    <dgm:cxn modelId="{29898844-404F-401D-9113-D2480B3B6974}" type="presOf" srcId="{EF163014-F20A-40BB-815B-E8C67202FF92}" destId="{546F1B08-F495-4D4F-A705-E4BACFE3F39D}" srcOrd="0" destOrd="0" presId="urn:microsoft.com/office/officeart/2016/7/layout/RepeatingBendingProcessNew"/>
    <dgm:cxn modelId="{FBF7B047-C697-475C-B7FC-262C8D9C7C15}" type="presOf" srcId="{EE8FBEAB-9096-4FF6-8E20-D619DEE6467F}" destId="{082DED6D-A25F-4EEE-839E-A8BF6082ADDC}" srcOrd="0" destOrd="0" presId="urn:microsoft.com/office/officeart/2016/7/layout/RepeatingBendingProcessNew"/>
    <dgm:cxn modelId="{527E9469-5517-4D46-9407-6E22DDC321D5}" type="presOf" srcId="{2DF8A08A-3988-47E5-A2EE-F14C748DD44E}" destId="{AD6D29D1-3F2D-4100-B402-747537F7EA2E}" srcOrd="1" destOrd="0" presId="urn:microsoft.com/office/officeart/2016/7/layout/RepeatingBendingProcessNew"/>
    <dgm:cxn modelId="{FEB24C55-3967-467B-ABBE-6A8B90030A45}" type="presOf" srcId="{15B2A2D5-BF25-40AD-84ED-AE99BDA72072}" destId="{B7D5557A-5CEA-4EF9-AF77-9D045CF0A3A9}" srcOrd="0" destOrd="0" presId="urn:microsoft.com/office/officeart/2016/7/layout/RepeatingBendingProcessNew"/>
    <dgm:cxn modelId="{60971958-8970-4C84-BA1E-753174C2E7A3}" srcId="{7BA06450-0FD9-4C38-A67E-BF302952D933}" destId="{EE8FBEAB-9096-4FF6-8E20-D619DEE6467F}" srcOrd="7" destOrd="0" parTransId="{5144F1CC-2F7E-4D34-9A92-79F56EFEFDBD}" sibTransId="{FFBD23C5-54B1-49F3-BE9B-C8640B7C8E88}"/>
    <dgm:cxn modelId="{E3B04F58-88B3-43DE-86E2-FECFB1258EA5}" type="presOf" srcId="{CCD003A7-38C0-4E8D-8DBB-144A0DBE8D65}" destId="{AC46CE99-662E-4952-8CD5-1617BE0AD074}" srcOrd="0" destOrd="0" presId="urn:microsoft.com/office/officeart/2016/7/layout/RepeatingBendingProcessNew"/>
    <dgm:cxn modelId="{5BD54F7A-8916-4097-AB9A-0F66CE65B80A}" type="presOf" srcId="{EF163014-F20A-40BB-815B-E8C67202FF92}" destId="{B9F90648-73AF-47E9-9EEB-C5B32C2FE120}" srcOrd="1" destOrd="0" presId="urn:microsoft.com/office/officeart/2016/7/layout/RepeatingBendingProcessNew"/>
    <dgm:cxn modelId="{C8DA2585-E6F9-4D7A-A657-08725900AA71}" type="presOf" srcId="{7BA06450-0FD9-4C38-A67E-BF302952D933}" destId="{52FD258D-797A-4020-9B09-140CA0A25E59}" srcOrd="0" destOrd="0" presId="urn:microsoft.com/office/officeart/2016/7/layout/RepeatingBendingProcessNew"/>
    <dgm:cxn modelId="{1B675789-E08A-41F5-BD81-847988242B4D}" srcId="{7BA06450-0FD9-4C38-A67E-BF302952D933}" destId="{CC048542-B5F2-4C49-99EF-F5254E130584}" srcOrd="0" destOrd="0" parTransId="{29C894CB-6029-4A33-A574-5AB464A02891}" sibTransId="{67C35D9C-BA41-455A-A5B3-7B1A8DBF1221}"/>
    <dgm:cxn modelId="{8C2D8096-1053-4141-BBDA-E3AF40294EDE}" type="presOf" srcId="{23978B2C-4549-4D73-8752-306EEBBB226E}" destId="{ACA0A307-979D-4A86-A870-0FAE237D71CB}" srcOrd="0" destOrd="0" presId="urn:microsoft.com/office/officeart/2016/7/layout/RepeatingBendingProcessNew"/>
    <dgm:cxn modelId="{6CCEEE99-6C5D-4428-AD16-636EDB308BC3}" srcId="{7BA06450-0FD9-4C38-A67E-BF302952D933}" destId="{E53A7142-FDAB-421F-9A0B-9800894CCD7C}" srcOrd="6" destOrd="0" parTransId="{E52EB69A-C88C-44A1-9A7A-ABEB3EF45E87}" sibTransId="{23978B2C-4549-4D73-8752-306EEBBB226E}"/>
    <dgm:cxn modelId="{D973CDA7-CFF0-4A04-B12D-15C2DF67717A}" type="presOf" srcId="{67C35D9C-BA41-455A-A5B3-7B1A8DBF1221}" destId="{82663C0E-3342-49A7-8DE7-DC3266CF0198}" srcOrd="0" destOrd="0" presId="urn:microsoft.com/office/officeart/2016/7/layout/RepeatingBendingProcessNew"/>
    <dgm:cxn modelId="{E59957AA-D1ED-4DC4-8A4E-723C582C3B0F}" type="presOf" srcId="{77FEC50C-6405-486A-AD44-6FC41B5FC5A8}" destId="{1C3B1AF4-E850-4BB9-8999-EA281BF1A5FD}" srcOrd="0" destOrd="0" presId="urn:microsoft.com/office/officeart/2016/7/layout/RepeatingBendingProcessNew"/>
    <dgm:cxn modelId="{4872A4AC-DB1E-4329-AFD8-3DD6E71B6A24}" type="presOf" srcId="{CC048542-B5F2-4C49-99EF-F5254E130584}" destId="{7D895918-EDBC-4708-95A5-3C170E63A7CE}" srcOrd="0" destOrd="0" presId="urn:microsoft.com/office/officeart/2016/7/layout/RepeatingBendingProcessNew"/>
    <dgm:cxn modelId="{5D98F4B5-ED4A-4648-AFFB-FAEEEA4887BD}" type="presOf" srcId="{67C35D9C-BA41-455A-A5B3-7B1A8DBF1221}" destId="{4030B78E-AC61-4A46-87D0-26A74B71CB77}" srcOrd="1" destOrd="0" presId="urn:microsoft.com/office/officeart/2016/7/layout/RepeatingBendingProcessNew"/>
    <dgm:cxn modelId="{4A8885B8-BFFD-48EC-A7C9-10C1B4BD56EB}" type="presOf" srcId="{A447FAA1-F0A8-485C-8C27-2070C746F1D2}" destId="{0FD099AB-E953-4D27-90E3-36FFAEC57716}" srcOrd="1" destOrd="0" presId="urn:microsoft.com/office/officeart/2016/7/layout/RepeatingBendingProcessNew"/>
    <dgm:cxn modelId="{93939DC0-8619-40AA-9D93-984500E0897A}" type="presOf" srcId="{A447FAA1-F0A8-485C-8C27-2070C746F1D2}" destId="{D5A346DF-82F0-434A-8D31-5B74AE640387}" srcOrd="0" destOrd="0" presId="urn:microsoft.com/office/officeart/2016/7/layout/RepeatingBendingProcessNew"/>
    <dgm:cxn modelId="{09B35CCD-6056-4FD9-9243-1C8C8A7DC8C9}" type="presOf" srcId="{DB55FED5-52A8-4E9B-9EEA-FBEB8FCDB7D3}" destId="{52F711C1-78EE-47A2-A763-4407A5301DFC}" srcOrd="0" destOrd="0" presId="urn:microsoft.com/office/officeart/2016/7/layout/RepeatingBendingProcessNew"/>
    <dgm:cxn modelId="{2999CDCD-268C-407B-9400-908DCDDB2279}" srcId="{7BA06450-0FD9-4C38-A67E-BF302952D933}" destId="{DB55FED5-52A8-4E9B-9EEA-FBEB8FCDB7D3}" srcOrd="4" destOrd="0" parTransId="{A891FD0B-E8E4-4536-9413-31C97E22805F}" sibTransId="{A447FAA1-F0A8-485C-8C27-2070C746F1D2}"/>
    <dgm:cxn modelId="{80B15FDB-1F1B-4D48-B81A-34F75E973BF6}" type="presOf" srcId="{6E1502D4-B998-4BE3-A090-70FFEB3469FB}" destId="{41AD49D3-FEB7-4180-90DD-A7CA270A250E}" srcOrd="0" destOrd="0" presId="urn:microsoft.com/office/officeart/2016/7/layout/RepeatingBendingProcessNew"/>
    <dgm:cxn modelId="{D81D00DE-9D5B-4D9A-B10B-F55413946168}" type="presOf" srcId="{CCD003A7-38C0-4E8D-8DBB-144A0DBE8D65}" destId="{0B6FBB9C-5541-4177-9AA2-C5E96554FBB8}" srcOrd="1" destOrd="0" presId="urn:microsoft.com/office/officeart/2016/7/layout/RepeatingBendingProcessNew"/>
    <dgm:cxn modelId="{E9419DF4-C555-4CA6-B1F3-E03109B660C9}" type="presOf" srcId="{E53A7142-FDAB-421F-9A0B-9800894CCD7C}" destId="{97DA1124-C68F-46E2-9414-3FD561EE1D2B}" srcOrd="0" destOrd="0" presId="urn:microsoft.com/office/officeart/2016/7/layout/RepeatingBendingProcessNew"/>
    <dgm:cxn modelId="{5506BEFD-9D1F-4AB2-9FB3-163C6A26EA40}" type="presOf" srcId="{15B2A2D5-BF25-40AD-84ED-AE99BDA72072}" destId="{B141A206-DF2E-4CAA-86AC-6363B3F5696F}" srcOrd="1" destOrd="0" presId="urn:microsoft.com/office/officeart/2016/7/layout/RepeatingBendingProcessNew"/>
    <dgm:cxn modelId="{023BFFFF-D944-4392-9956-03EC7C1E2B5F}" srcId="{7BA06450-0FD9-4C38-A67E-BF302952D933}" destId="{69AECF04-738E-4D48-B2A5-A9569C06B8F0}" srcOrd="2" destOrd="0" parTransId="{B4A5BB25-89E9-4989-A4E8-F9FC0D0E779D}" sibTransId="{2DF8A08A-3988-47E5-A2EE-F14C748DD44E}"/>
    <dgm:cxn modelId="{37D214D8-0AB2-4A51-A9B0-1D81553C2CBD}" type="presParOf" srcId="{52FD258D-797A-4020-9B09-140CA0A25E59}" destId="{7D895918-EDBC-4708-95A5-3C170E63A7CE}" srcOrd="0" destOrd="0" presId="urn:microsoft.com/office/officeart/2016/7/layout/RepeatingBendingProcessNew"/>
    <dgm:cxn modelId="{85CF049B-422B-4452-93F4-4B926E2B8F0F}" type="presParOf" srcId="{52FD258D-797A-4020-9B09-140CA0A25E59}" destId="{82663C0E-3342-49A7-8DE7-DC3266CF0198}" srcOrd="1" destOrd="0" presId="urn:microsoft.com/office/officeart/2016/7/layout/RepeatingBendingProcessNew"/>
    <dgm:cxn modelId="{3ABCD3BB-D14C-4965-BAB9-6BF7880227B4}" type="presParOf" srcId="{82663C0E-3342-49A7-8DE7-DC3266CF0198}" destId="{4030B78E-AC61-4A46-87D0-26A74B71CB77}" srcOrd="0" destOrd="0" presId="urn:microsoft.com/office/officeart/2016/7/layout/RepeatingBendingProcessNew"/>
    <dgm:cxn modelId="{E4E01AD0-D400-42D6-809A-D4B04EEA9F90}" type="presParOf" srcId="{52FD258D-797A-4020-9B09-140CA0A25E59}" destId="{41AD49D3-FEB7-4180-90DD-A7CA270A250E}" srcOrd="2" destOrd="0" presId="urn:microsoft.com/office/officeart/2016/7/layout/RepeatingBendingProcessNew"/>
    <dgm:cxn modelId="{80626F61-0FE6-4C96-88D8-A7D520387AA3}" type="presParOf" srcId="{52FD258D-797A-4020-9B09-140CA0A25E59}" destId="{546F1B08-F495-4D4F-A705-E4BACFE3F39D}" srcOrd="3" destOrd="0" presId="urn:microsoft.com/office/officeart/2016/7/layout/RepeatingBendingProcessNew"/>
    <dgm:cxn modelId="{8706191D-958C-4BEA-9987-39C17FE07C27}" type="presParOf" srcId="{546F1B08-F495-4D4F-A705-E4BACFE3F39D}" destId="{B9F90648-73AF-47E9-9EEB-C5B32C2FE120}" srcOrd="0" destOrd="0" presId="urn:microsoft.com/office/officeart/2016/7/layout/RepeatingBendingProcessNew"/>
    <dgm:cxn modelId="{5360E96D-C851-439B-8336-DBC2740085A2}" type="presParOf" srcId="{52FD258D-797A-4020-9B09-140CA0A25E59}" destId="{B9929734-45D0-4510-B9A6-AC4169292BE3}" srcOrd="4" destOrd="0" presId="urn:microsoft.com/office/officeart/2016/7/layout/RepeatingBendingProcessNew"/>
    <dgm:cxn modelId="{BD36A435-04E1-42F2-B089-B9214259248B}" type="presParOf" srcId="{52FD258D-797A-4020-9B09-140CA0A25E59}" destId="{E2E266E8-F22C-4B87-A9D6-E647496831DB}" srcOrd="5" destOrd="0" presId="urn:microsoft.com/office/officeart/2016/7/layout/RepeatingBendingProcessNew"/>
    <dgm:cxn modelId="{BD88641A-A42B-4A19-A2D5-774F93EE7399}" type="presParOf" srcId="{E2E266E8-F22C-4B87-A9D6-E647496831DB}" destId="{AD6D29D1-3F2D-4100-B402-747537F7EA2E}" srcOrd="0" destOrd="0" presId="urn:microsoft.com/office/officeart/2016/7/layout/RepeatingBendingProcessNew"/>
    <dgm:cxn modelId="{3E6F1043-D5BA-426E-8F99-B8B58A8775F8}" type="presParOf" srcId="{52FD258D-797A-4020-9B09-140CA0A25E59}" destId="{33138A4C-B783-4CBC-8AC9-AE644E89556B}" srcOrd="6" destOrd="0" presId="urn:microsoft.com/office/officeart/2016/7/layout/RepeatingBendingProcessNew"/>
    <dgm:cxn modelId="{CE3A7104-F644-48A2-B298-71F7195AF76B}" type="presParOf" srcId="{52FD258D-797A-4020-9B09-140CA0A25E59}" destId="{AC46CE99-662E-4952-8CD5-1617BE0AD074}" srcOrd="7" destOrd="0" presId="urn:microsoft.com/office/officeart/2016/7/layout/RepeatingBendingProcessNew"/>
    <dgm:cxn modelId="{9EDDD829-6FDB-4A35-B170-8620B2744E74}" type="presParOf" srcId="{AC46CE99-662E-4952-8CD5-1617BE0AD074}" destId="{0B6FBB9C-5541-4177-9AA2-C5E96554FBB8}" srcOrd="0" destOrd="0" presId="urn:microsoft.com/office/officeart/2016/7/layout/RepeatingBendingProcessNew"/>
    <dgm:cxn modelId="{DDA8F574-9606-41AB-A5C3-95797C99C0FB}" type="presParOf" srcId="{52FD258D-797A-4020-9B09-140CA0A25E59}" destId="{52F711C1-78EE-47A2-A763-4407A5301DFC}" srcOrd="8" destOrd="0" presId="urn:microsoft.com/office/officeart/2016/7/layout/RepeatingBendingProcessNew"/>
    <dgm:cxn modelId="{726E3FD0-3165-49C1-8741-F38284D80087}" type="presParOf" srcId="{52FD258D-797A-4020-9B09-140CA0A25E59}" destId="{D5A346DF-82F0-434A-8D31-5B74AE640387}" srcOrd="9" destOrd="0" presId="urn:microsoft.com/office/officeart/2016/7/layout/RepeatingBendingProcessNew"/>
    <dgm:cxn modelId="{31D40C2F-29EC-4A38-843B-25CDE798FDE7}" type="presParOf" srcId="{D5A346DF-82F0-434A-8D31-5B74AE640387}" destId="{0FD099AB-E953-4D27-90E3-36FFAEC57716}" srcOrd="0" destOrd="0" presId="urn:microsoft.com/office/officeart/2016/7/layout/RepeatingBendingProcessNew"/>
    <dgm:cxn modelId="{145F4E13-F7A5-4C29-B84C-2BB339317D14}" type="presParOf" srcId="{52FD258D-797A-4020-9B09-140CA0A25E59}" destId="{1C3B1AF4-E850-4BB9-8999-EA281BF1A5FD}" srcOrd="10" destOrd="0" presId="urn:microsoft.com/office/officeart/2016/7/layout/RepeatingBendingProcessNew"/>
    <dgm:cxn modelId="{1546B24F-71F0-46B4-AB12-0A0C34A52DEF}" type="presParOf" srcId="{52FD258D-797A-4020-9B09-140CA0A25E59}" destId="{B7D5557A-5CEA-4EF9-AF77-9D045CF0A3A9}" srcOrd="11" destOrd="0" presId="urn:microsoft.com/office/officeart/2016/7/layout/RepeatingBendingProcessNew"/>
    <dgm:cxn modelId="{329E2B54-844D-4FE0-8E4C-968BD0959353}" type="presParOf" srcId="{B7D5557A-5CEA-4EF9-AF77-9D045CF0A3A9}" destId="{B141A206-DF2E-4CAA-86AC-6363B3F5696F}" srcOrd="0" destOrd="0" presId="urn:microsoft.com/office/officeart/2016/7/layout/RepeatingBendingProcessNew"/>
    <dgm:cxn modelId="{959F76C8-ADF4-40BB-9F55-344A66430F1E}" type="presParOf" srcId="{52FD258D-797A-4020-9B09-140CA0A25E59}" destId="{97DA1124-C68F-46E2-9414-3FD561EE1D2B}" srcOrd="12" destOrd="0" presId="urn:microsoft.com/office/officeart/2016/7/layout/RepeatingBendingProcessNew"/>
    <dgm:cxn modelId="{A4FC1266-6839-451B-9637-D80A9D439F8D}" type="presParOf" srcId="{52FD258D-797A-4020-9B09-140CA0A25E59}" destId="{ACA0A307-979D-4A86-A870-0FAE237D71CB}" srcOrd="13" destOrd="0" presId="urn:microsoft.com/office/officeart/2016/7/layout/RepeatingBendingProcessNew"/>
    <dgm:cxn modelId="{C1B4FFA3-818C-45C4-B500-A8C827813994}" type="presParOf" srcId="{ACA0A307-979D-4A86-A870-0FAE237D71CB}" destId="{D8E20EFB-FBE5-4F4A-AC67-B556E0DA3955}" srcOrd="0" destOrd="0" presId="urn:microsoft.com/office/officeart/2016/7/layout/RepeatingBendingProcessNew"/>
    <dgm:cxn modelId="{4ED848D2-6DF2-42CD-821F-B939DA4350B3}" type="presParOf" srcId="{52FD258D-797A-4020-9B09-140CA0A25E59}" destId="{082DED6D-A25F-4EEE-839E-A8BF6082ADDC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63C0E-3342-49A7-8DE7-DC3266CF0198}">
      <dsp:nvSpPr>
        <dsp:cNvPr id="0" name=""/>
        <dsp:cNvSpPr/>
      </dsp:nvSpPr>
      <dsp:spPr>
        <a:xfrm>
          <a:off x="2409566" y="1287809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7463" y="1330758"/>
        <a:ext cx="27704" cy="5540"/>
      </dsp:txXfrm>
    </dsp:sp>
    <dsp:sp modelId="{7D895918-EDBC-4708-95A5-3C170E63A7CE}">
      <dsp:nvSpPr>
        <dsp:cNvPr id="0" name=""/>
        <dsp:cNvSpPr/>
      </dsp:nvSpPr>
      <dsp:spPr>
        <a:xfrm>
          <a:off x="2249" y="610793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 dirty="0"/>
            <a:t>Αναλύσαμε το </a:t>
          </a:r>
          <a:r>
            <a:rPr lang="en-US" sz="1200" kern="1200" dirty="0"/>
            <a:t>head </a:t>
          </a:r>
          <a:r>
            <a:rPr lang="el-GR" sz="1200" kern="1200" dirty="0"/>
            <a:t>του αρχείου </a:t>
          </a:r>
          <a:r>
            <a:rPr lang="en-US" sz="1200" kern="1200" dirty="0"/>
            <a:t>csv. </a:t>
          </a:r>
        </a:p>
      </dsp:txBody>
      <dsp:txXfrm>
        <a:off x="2249" y="610793"/>
        <a:ext cx="2409117" cy="1445470"/>
      </dsp:txXfrm>
    </dsp:sp>
    <dsp:sp modelId="{546F1B08-F495-4D4F-A705-E4BACFE3F39D}">
      <dsp:nvSpPr>
        <dsp:cNvPr id="0" name=""/>
        <dsp:cNvSpPr/>
      </dsp:nvSpPr>
      <dsp:spPr>
        <a:xfrm>
          <a:off x="5372781" y="1287809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0678" y="1330758"/>
        <a:ext cx="27704" cy="5540"/>
      </dsp:txXfrm>
    </dsp:sp>
    <dsp:sp modelId="{41AD49D3-FEB7-4180-90DD-A7CA270A250E}">
      <dsp:nvSpPr>
        <dsp:cNvPr id="0" name=""/>
        <dsp:cNvSpPr/>
      </dsp:nvSpPr>
      <dsp:spPr>
        <a:xfrm>
          <a:off x="2965464" y="610793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/>
            <a:t>2 στήλες που μας ενδιαφέρουν:</a:t>
          </a:r>
          <a:r>
            <a:rPr lang="en-US" sz="1200" kern="1200"/>
            <a:t> cpu usage &amp; memory usage</a:t>
          </a:r>
        </a:p>
      </dsp:txBody>
      <dsp:txXfrm>
        <a:off x="2965464" y="610793"/>
        <a:ext cx="2409117" cy="1445470"/>
      </dsp:txXfrm>
    </dsp:sp>
    <dsp:sp modelId="{E2E266E8-F22C-4B87-A9D6-E647496831DB}">
      <dsp:nvSpPr>
        <dsp:cNvPr id="0" name=""/>
        <dsp:cNvSpPr/>
      </dsp:nvSpPr>
      <dsp:spPr>
        <a:xfrm>
          <a:off x="8335996" y="1287809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83893" y="1330758"/>
        <a:ext cx="27704" cy="5540"/>
      </dsp:txXfrm>
    </dsp:sp>
    <dsp:sp modelId="{B9929734-45D0-4510-B9A6-AC4169292BE3}">
      <dsp:nvSpPr>
        <dsp:cNvPr id="0" name=""/>
        <dsp:cNvSpPr/>
      </dsp:nvSpPr>
      <dsp:spPr>
        <a:xfrm>
          <a:off x="5928679" y="610793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/>
            <a:t>Διαγράψαμε τελείως τα </a:t>
          </a:r>
          <a:r>
            <a:rPr lang="en-US" sz="1200" kern="1200"/>
            <a:t>rows </a:t>
          </a:r>
          <a:r>
            <a:rPr lang="el-GR" sz="1200" kern="1200"/>
            <a:t>με </a:t>
          </a:r>
          <a:r>
            <a:rPr lang="en-US" sz="1200" kern="1200"/>
            <a:t>NaN </a:t>
          </a:r>
          <a:r>
            <a:rPr lang="el-GR" sz="1200" kern="1200"/>
            <a:t>τιμές.</a:t>
          </a:r>
          <a:endParaRPr lang="en-US" sz="1200" kern="1200"/>
        </a:p>
      </dsp:txBody>
      <dsp:txXfrm>
        <a:off x="5928679" y="610793"/>
        <a:ext cx="2409117" cy="1445470"/>
      </dsp:txXfrm>
    </dsp:sp>
    <dsp:sp modelId="{AC46CE99-662E-4952-8CD5-1617BE0AD074}">
      <dsp:nvSpPr>
        <dsp:cNvPr id="0" name=""/>
        <dsp:cNvSpPr/>
      </dsp:nvSpPr>
      <dsp:spPr>
        <a:xfrm>
          <a:off x="1206808" y="2054464"/>
          <a:ext cx="8889644" cy="523497"/>
        </a:xfrm>
        <a:custGeom>
          <a:avLst/>
          <a:gdLst/>
          <a:ahLst/>
          <a:cxnLst/>
          <a:rect l="0" t="0" r="0" b="0"/>
          <a:pathLst>
            <a:path>
              <a:moveTo>
                <a:pt x="8889644" y="0"/>
              </a:moveTo>
              <a:lnTo>
                <a:pt x="8889644" y="278848"/>
              </a:lnTo>
              <a:lnTo>
                <a:pt x="0" y="278848"/>
              </a:lnTo>
              <a:lnTo>
                <a:pt x="0" y="52349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8958" y="2313442"/>
        <a:ext cx="445344" cy="5540"/>
      </dsp:txXfrm>
    </dsp:sp>
    <dsp:sp modelId="{33138A4C-B783-4CBC-8AC9-AE644E89556B}">
      <dsp:nvSpPr>
        <dsp:cNvPr id="0" name=""/>
        <dsp:cNvSpPr/>
      </dsp:nvSpPr>
      <dsp:spPr>
        <a:xfrm>
          <a:off x="8891894" y="610793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/>
            <a:t>Υπολογίσαμε </a:t>
          </a:r>
          <a:r>
            <a:rPr lang="en-US" sz="1200" kern="1200"/>
            <a:t>minimum &amp; maximum </a:t>
          </a:r>
          <a:r>
            <a:rPr lang="el-GR" sz="1200" kern="1200"/>
            <a:t>τιμές για κάθε στήλη.</a:t>
          </a:r>
          <a:endParaRPr lang="en-US" sz="1200" kern="1200"/>
        </a:p>
      </dsp:txBody>
      <dsp:txXfrm>
        <a:off x="8891894" y="610793"/>
        <a:ext cx="2409117" cy="1445470"/>
      </dsp:txXfrm>
    </dsp:sp>
    <dsp:sp modelId="{D5A346DF-82F0-434A-8D31-5B74AE640387}">
      <dsp:nvSpPr>
        <dsp:cNvPr id="0" name=""/>
        <dsp:cNvSpPr/>
      </dsp:nvSpPr>
      <dsp:spPr>
        <a:xfrm>
          <a:off x="2409566" y="3287376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7463" y="3330326"/>
        <a:ext cx="27704" cy="5540"/>
      </dsp:txXfrm>
    </dsp:sp>
    <dsp:sp modelId="{52F711C1-78EE-47A2-A763-4407A5301DFC}">
      <dsp:nvSpPr>
        <dsp:cNvPr id="0" name=""/>
        <dsp:cNvSpPr/>
      </dsp:nvSpPr>
      <dsp:spPr>
        <a:xfrm>
          <a:off x="2249" y="2610361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 dirty="0"/>
            <a:t>Μέσω της συνάρτησης </a:t>
          </a:r>
          <a:r>
            <a:rPr lang="en-US" sz="1200" kern="1200" dirty="0" err="1"/>
            <a:t>calculate_volatility</a:t>
          </a:r>
          <a:r>
            <a:rPr lang="en-US" sz="1200" kern="1200" dirty="0"/>
            <a:t> </a:t>
          </a:r>
          <a:r>
            <a:rPr lang="el-GR" sz="1200" kern="1200" dirty="0"/>
            <a:t>βρήκαμε ποια </a:t>
          </a:r>
          <a:r>
            <a:rPr lang="en-US" sz="1200" kern="1200" dirty="0"/>
            <a:t>nodes </a:t>
          </a:r>
          <a:r>
            <a:rPr lang="el-GR" sz="1200" kern="1200" dirty="0"/>
            <a:t>είχαν ακραίες διακυμάνσεις σε σύντομο χρονικό διάστημα (</a:t>
          </a:r>
          <a:r>
            <a:rPr lang="en-US" sz="1200" kern="1200" dirty="0"/>
            <a:t>threshold 0.75 </a:t>
          </a:r>
          <a:r>
            <a:rPr lang="el-GR" sz="1200" kern="1200" dirty="0"/>
            <a:t>σε &lt; </a:t>
          </a:r>
          <a:r>
            <a:rPr lang="en-US" sz="1200" kern="1200" dirty="0"/>
            <a:t>3 </a:t>
          </a:r>
          <a:r>
            <a:rPr lang="en-US" sz="1200" kern="1200" dirty="0" err="1"/>
            <a:t>ts</a:t>
          </a:r>
          <a:r>
            <a:rPr lang="el-GR" sz="1200" kern="1200" dirty="0"/>
            <a:t>)</a:t>
          </a:r>
          <a:r>
            <a:rPr lang="en-US" sz="1200" kern="1200" dirty="0"/>
            <a:t>.</a:t>
          </a:r>
        </a:p>
      </dsp:txBody>
      <dsp:txXfrm>
        <a:off x="2249" y="2610361"/>
        <a:ext cx="2409117" cy="1445470"/>
      </dsp:txXfrm>
    </dsp:sp>
    <dsp:sp modelId="{B7D5557A-5CEA-4EF9-AF77-9D045CF0A3A9}">
      <dsp:nvSpPr>
        <dsp:cNvPr id="0" name=""/>
        <dsp:cNvSpPr/>
      </dsp:nvSpPr>
      <dsp:spPr>
        <a:xfrm>
          <a:off x="5372781" y="3287376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0678" y="3330326"/>
        <a:ext cx="27704" cy="5540"/>
      </dsp:txXfrm>
    </dsp:sp>
    <dsp:sp modelId="{1C3B1AF4-E850-4BB9-8999-EA281BF1A5FD}">
      <dsp:nvSpPr>
        <dsp:cNvPr id="0" name=""/>
        <dsp:cNvSpPr/>
      </dsp:nvSpPr>
      <dsp:spPr>
        <a:xfrm>
          <a:off x="2965464" y="2610361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/>
            <a:t>Βρήκαμε τα </a:t>
          </a:r>
          <a:r>
            <a:rPr lang="en-US" sz="1200" kern="1200"/>
            <a:t>nodes </a:t>
          </a:r>
          <a:r>
            <a:rPr lang="el-GR" sz="1200" kern="1200"/>
            <a:t>με συνεχόμενο </a:t>
          </a:r>
          <a:r>
            <a:rPr lang="en-US" sz="1200" kern="1200"/>
            <a:t>high cpu usage (&gt;0.9 </a:t>
          </a:r>
          <a:r>
            <a:rPr lang="el-GR" sz="1200" kern="1200"/>
            <a:t>για παραπάνω από το 50% των </a:t>
          </a:r>
          <a:r>
            <a:rPr lang="en-US" sz="1200" kern="1200"/>
            <a:t>ts) </a:t>
          </a:r>
          <a:r>
            <a:rPr lang="el-GR" sz="1200" kern="1200"/>
            <a:t>και αντίστοιχα για </a:t>
          </a:r>
          <a:r>
            <a:rPr lang="en-US" sz="1200" kern="1200"/>
            <a:t>low usage </a:t>
          </a:r>
          <a:r>
            <a:rPr lang="el-GR" sz="1200" kern="1200"/>
            <a:t>(&lt;0.1) και </a:t>
          </a:r>
          <a:r>
            <a:rPr lang="en-US" sz="1200" kern="1200"/>
            <a:t>super low usage (&lt;0.05).</a:t>
          </a:r>
        </a:p>
      </dsp:txBody>
      <dsp:txXfrm>
        <a:off x="2965464" y="2610361"/>
        <a:ext cx="2409117" cy="1445470"/>
      </dsp:txXfrm>
    </dsp:sp>
    <dsp:sp modelId="{ACA0A307-979D-4A86-A870-0FAE237D71CB}">
      <dsp:nvSpPr>
        <dsp:cNvPr id="0" name=""/>
        <dsp:cNvSpPr/>
      </dsp:nvSpPr>
      <dsp:spPr>
        <a:xfrm>
          <a:off x="8335996" y="3287376"/>
          <a:ext cx="523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34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83893" y="3330326"/>
        <a:ext cx="27704" cy="5540"/>
      </dsp:txXfrm>
    </dsp:sp>
    <dsp:sp modelId="{97DA1124-C68F-46E2-9414-3FD561EE1D2B}">
      <dsp:nvSpPr>
        <dsp:cNvPr id="0" name=""/>
        <dsp:cNvSpPr/>
      </dsp:nvSpPr>
      <dsp:spPr>
        <a:xfrm>
          <a:off x="5928679" y="2610361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/>
            <a:t>Ταξινομήσαμε τα δεδομένα μας πρώτα βάση </a:t>
          </a:r>
          <a:r>
            <a:rPr lang="en-US" sz="1200" kern="1200"/>
            <a:t>nodeid </a:t>
          </a:r>
          <a:r>
            <a:rPr lang="el-GR" sz="1200" kern="1200"/>
            <a:t>και στη συνέχεια βάση </a:t>
          </a:r>
          <a:r>
            <a:rPr lang="en-US" sz="1200" kern="1200"/>
            <a:t>timestamp</a:t>
          </a:r>
        </a:p>
      </dsp:txBody>
      <dsp:txXfrm>
        <a:off x="5928679" y="2610361"/>
        <a:ext cx="2409117" cy="1445470"/>
      </dsp:txXfrm>
    </dsp:sp>
    <dsp:sp modelId="{082DED6D-A25F-4EEE-839E-A8BF6082ADDC}">
      <dsp:nvSpPr>
        <dsp:cNvPr id="0" name=""/>
        <dsp:cNvSpPr/>
      </dsp:nvSpPr>
      <dsp:spPr>
        <a:xfrm>
          <a:off x="8891894" y="2610361"/>
          <a:ext cx="2409117" cy="1445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49" tIns="123913" rIns="118049" bIns="12391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kern="1200" dirty="0"/>
            <a:t>Βρήκαμε ποια </a:t>
          </a:r>
          <a:r>
            <a:rPr lang="en-US" sz="1200" kern="1200" dirty="0"/>
            <a:t>nodes </a:t>
          </a:r>
          <a:r>
            <a:rPr lang="el-GR" sz="1200" kern="1200" dirty="0"/>
            <a:t>έχουν χαμηλό </a:t>
          </a:r>
          <a:r>
            <a:rPr lang="en-US" sz="1200" kern="1200" dirty="0"/>
            <a:t>volatility </a:t>
          </a:r>
          <a:r>
            <a:rPr lang="el-GR" sz="1200" kern="1200" dirty="0"/>
            <a:t>(&lt;0.1 για πάνω από</a:t>
          </a:r>
          <a:r>
            <a:rPr lang="en-US" sz="1200" kern="1200" dirty="0"/>
            <a:t> 50% </a:t>
          </a:r>
          <a:r>
            <a:rPr lang="en-US" sz="1200" kern="1200" dirty="0" err="1"/>
            <a:t>ts</a:t>
          </a:r>
          <a:r>
            <a:rPr lang="el-GR" sz="1200" kern="1200" dirty="0"/>
            <a:t>)</a:t>
          </a:r>
          <a:r>
            <a:rPr lang="en-US" sz="1200" kern="1200" dirty="0"/>
            <a:t> </a:t>
          </a:r>
          <a:r>
            <a:rPr lang="el-GR" sz="1200" kern="1200" dirty="0"/>
            <a:t>και παρατηρήσαμε ότι σε όλα τα </a:t>
          </a:r>
          <a:r>
            <a:rPr lang="en-US" sz="1200" kern="1200" dirty="0"/>
            <a:t>nodes </a:t>
          </a:r>
          <a:r>
            <a:rPr lang="el-GR" sz="1200" kern="1200" dirty="0"/>
            <a:t>το </a:t>
          </a:r>
          <a:r>
            <a:rPr lang="en-US" sz="1200" kern="1200" dirty="0"/>
            <a:t>memory usage </a:t>
          </a:r>
          <a:r>
            <a:rPr lang="el-GR" sz="1200" kern="1200" dirty="0"/>
            <a:t>παρουσιάζει πολύ μικρές αλλαγές. </a:t>
          </a:r>
          <a:endParaRPr lang="en-US" sz="1200" kern="1200" dirty="0"/>
        </a:p>
      </dsp:txBody>
      <dsp:txXfrm>
        <a:off x="8891894" y="2610361"/>
        <a:ext cx="2409117" cy="1445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04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AD8713-DE8A-40AB-93A7-808DC814EF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C0B3FD-CB4D-48D9-BB6C-C0993FD5EF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1069A3-86D9-46C8-AF0F-0C3DF359B0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B2465A-9F1E-45DC-B88D-3BBC7A921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3B851F-50AF-4F5C-9C1E-082F7324C1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ABADEF0-03A9-4458-B327-F1D5DA2662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B4AAF37-FCA3-4851-B98C-D216662FDC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71277A7-B703-4C2D-8184-12575B367A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D88AC9B-E1E1-459F-A61E-500B16D5C3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04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1B84F0A-3CAA-4588-8E7C-6B1BBCBEDF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1501213-5100-412E-B168-975D6338BC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36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6216840" y="2249640"/>
            <a:ext cx="483336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F0FEBF-48DF-4736-9654-5373C25A4E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ADD18BA-CB53-453B-A04B-5679F5DE82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D22BCE61-CA3A-495D-91B6-3898779D9C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4BE0B84-3678-4163-87C3-6A216BC122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FDCF6A09-1C7B-4F8C-A921-40E486512E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D7A6E7E-75B2-4002-B42F-C3E1F96789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1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000" cy="6856920"/>
            <a:chOff x="0" y="0"/>
            <a:chExt cx="2304000" cy="685692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7360" cy="44805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200" cy="90684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06840"/>
                <a:gd name="textAreaBottom" fmla="*/ 907920 h 90684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120" cy="1800720"/>
            </a:xfrm>
            <a:custGeom>
              <a:avLst/>
              <a:gdLst>
                <a:gd name="textAreaLeft" fmla="*/ 0 w 375120"/>
                <a:gd name="textAreaRight" fmla="*/ 376200 w 375120"/>
                <a:gd name="textAreaTop" fmla="*/ 0 h 1800720"/>
                <a:gd name="textAreaBottom" fmla="*/ 1801800 h 1800720"/>
              </a:gdLst>
              <a:ah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0440" cy="1424520"/>
            </a:xfrm>
            <a:custGeom>
              <a:avLst/>
              <a:gdLst>
                <a:gd name="textAreaLeft" fmla="*/ 0 w 370440"/>
                <a:gd name="textAreaRight" fmla="*/ 371520 w 370440"/>
                <a:gd name="textAreaTop" fmla="*/ 0 h 1424520"/>
                <a:gd name="textAreaBottom" fmla="*/ 1425600 h 1424520"/>
              </a:gdLst>
              <a:ah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7960" cy="521280"/>
            </a:xfrm>
            <a:custGeom>
              <a:avLst/>
              <a:gdLst>
                <a:gd name="textAreaLeft" fmla="*/ 0 w 417960"/>
                <a:gd name="textAreaRight" fmla="*/ 419040 w 417960"/>
                <a:gd name="textAreaTop" fmla="*/ 0 h 521280"/>
                <a:gd name="textAreaBottom" fmla="*/ 522360 h 521280"/>
              </a:gdLst>
              <a:ah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0920" cy="14652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200" cy="90684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06840"/>
                <a:gd name="textAreaBottom" fmla="*/ 907920 h 90684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6960" cy="1215000"/>
            </a:xfrm>
            <a:custGeom>
              <a:avLst/>
              <a:gdLst>
                <a:gd name="textAreaLeft" fmla="*/ 0 w 336960"/>
                <a:gd name="textAreaRight" fmla="*/ 338040 w 336960"/>
                <a:gd name="textAreaTop" fmla="*/ 0 h 1215000"/>
                <a:gd name="textAreaBottom" fmla="*/ 1216080 h 1215000"/>
              </a:gdLst>
              <a:ah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240" cy="15624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56240"/>
                <a:gd name="textAreaBottom" fmla="*/ 157320 h 15624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120" cy="265680"/>
            </a:xfrm>
            <a:custGeom>
              <a:avLst/>
              <a:gdLst>
                <a:gd name="textAreaLeft" fmla="*/ 0 w 132120"/>
                <a:gd name="textAreaRight" fmla="*/ 133200 w 132120"/>
                <a:gd name="textAreaTop" fmla="*/ 0 h 265680"/>
                <a:gd name="textAreaBottom" fmla="*/ 266760 h 265680"/>
              </a:gdLst>
              <a:ah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120" cy="268920"/>
            </a:xfrm>
            <a:custGeom>
              <a:avLst/>
              <a:gdLst>
                <a:gd name="textAreaLeft" fmla="*/ 0 w 132120"/>
                <a:gd name="textAreaRight" fmla="*/ 133200 w 132120"/>
                <a:gd name="textAreaTop" fmla="*/ 0 h 268920"/>
                <a:gd name="textAreaBottom" fmla="*/ 270000 h 268920"/>
              </a:gdLst>
              <a:ah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8520" cy="1557720"/>
            </a:xfrm>
            <a:custGeom>
              <a:avLst/>
              <a:gdLst>
                <a:gd name="textAreaLeft" fmla="*/ 0 w 308520"/>
                <a:gd name="textAreaRight" fmla="*/ 309600 w 308520"/>
                <a:gd name="textAreaTop" fmla="*/ 0 h 1557720"/>
                <a:gd name="textAreaBottom" fmla="*/ 1558800 h 1557720"/>
              </a:gdLst>
              <a:ah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3840" cy="1776960"/>
            </a:xfrm>
            <a:custGeom>
              <a:avLst/>
              <a:gdLst>
                <a:gd name="textAreaLeft" fmla="*/ 0 w 303840"/>
                <a:gd name="textAreaRight" fmla="*/ 304920 w 303840"/>
                <a:gd name="textAreaTop" fmla="*/ 0 h 1776960"/>
                <a:gd name="textAreaBottom" fmla="*/ 1778040 h 1776960"/>
              </a:gdLst>
              <a:ah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2680" cy="24192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89360" cy="46080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460800"/>
                <a:gd name="textAreaBottom" fmla="*/ 461880 h 460800"/>
              </a:gdLst>
              <a:ah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120" cy="754560"/>
            </a:xfrm>
            <a:custGeom>
              <a:avLst/>
              <a:gdLst>
                <a:gd name="textAreaLeft" fmla="*/ 0 w 213120"/>
                <a:gd name="textAreaRight" fmla="*/ 214200 w 213120"/>
                <a:gd name="textAreaTop" fmla="*/ 0 h 754560"/>
                <a:gd name="textAreaBottom" fmla="*/ 755640 h 754560"/>
              </a:gdLst>
              <a:ah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5600" cy="159120"/>
            </a:xfrm>
            <a:custGeom>
              <a:avLst/>
              <a:gdLst>
                <a:gd name="textAreaLeft" fmla="*/ 0 w 165600"/>
                <a:gd name="textAreaRight" fmla="*/ 166680 w 165600"/>
                <a:gd name="textAreaTop" fmla="*/ 0 h 159120"/>
                <a:gd name="textAreaBottom" fmla="*/ 160200 h 159120"/>
              </a:gdLst>
              <a:ah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200" cy="4024800"/>
            </a:xfrm>
            <a:custGeom>
              <a:avLst/>
              <a:gdLst>
                <a:gd name="textAreaLeft" fmla="*/ 0 w 637200"/>
                <a:gd name="textAreaRight" fmla="*/ 638280 w 637200"/>
                <a:gd name="textAreaTop" fmla="*/ 0 h 4024800"/>
                <a:gd name="textAreaBottom" fmla="*/ 4025880 h 4024800"/>
              </a:gdLst>
              <a:ah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1840" cy="475200"/>
            </a:xfrm>
            <a:custGeom>
              <a:avLst/>
              <a:gdLst>
                <a:gd name="textAreaLeft" fmla="*/ 0 w 141840"/>
                <a:gd name="textAreaRight" fmla="*/ 142920 w 141840"/>
                <a:gd name="textAreaTop" fmla="*/ 0 h 475200"/>
                <a:gd name="textAreaBottom" fmla="*/ 476280 h 47520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8360" cy="106920"/>
            </a:xfrm>
            <a:custGeom>
              <a:avLst/>
              <a:gdLst>
                <a:gd name="textAreaLeft" fmla="*/ 0 w 108360"/>
                <a:gd name="textAreaRight" fmla="*/ 109440 w 10836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1840" cy="473760"/>
            </a:xfrm>
            <a:custGeom>
              <a:avLst/>
              <a:gdLst>
                <a:gd name="textAreaLeft" fmla="*/ 0 w 141840"/>
                <a:gd name="textAreaRight" fmla="*/ 142920 w 141840"/>
                <a:gd name="textAreaTop" fmla="*/ 0 h 473760"/>
                <a:gd name="textAreaBottom" fmla="*/ 474840 h 473760"/>
              </a:gdLst>
              <a:ah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8360" cy="108360"/>
            </a:xfrm>
            <a:custGeom>
              <a:avLst/>
              <a:gdLst>
                <a:gd name="textAreaLeft" fmla="*/ 0 w 108360"/>
                <a:gd name="textAreaRight" fmla="*/ 109440 w 108360"/>
                <a:gd name="textAreaTop" fmla="*/ 0 h 108360"/>
                <a:gd name="textAreaBottom" fmla="*/ 109440 h 108360"/>
              </a:gdLst>
              <a:ah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3400" cy="451440"/>
            </a:xfrm>
            <a:custGeom>
              <a:avLst/>
              <a:gdLst>
                <a:gd name="textAreaLeft" fmla="*/ 0 w 113400"/>
                <a:gd name="textAreaRight" fmla="*/ 114480 w 113400"/>
                <a:gd name="textAreaTop" fmla="*/ 0 h 451440"/>
                <a:gd name="textAreaBottom" fmla="*/ 452520 h 451440"/>
              </a:gdLst>
              <a:ah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8360" cy="108360"/>
            </a:xfrm>
            <a:custGeom>
              <a:avLst/>
              <a:gdLst>
                <a:gd name="textAreaLeft" fmla="*/ 0 w 108360"/>
                <a:gd name="textAreaRight" fmla="*/ 109440 w 108360"/>
                <a:gd name="textAreaTop" fmla="*/ 0 h 108360"/>
                <a:gd name="textAreaBottom" fmla="*/ 109440 h 10836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0440" cy="1800720"/>
            </a:xfrm>
            <a:custGeom>
              <a:avLst/>
              <a:gdLst>
                <a:gd name="textAreaLeft" fmla="*/ 0 w 370440"/>
                <a:gd name="textAreaRight" fmla="*/ 371520 w 370440"/>
                <a:gd name="textAreaTop" fmla="*/ 0 h 1800720"/>
                <a:gd name="textAreaBottom" fmla="*/ 1801800 h 1800720"/>
              </a:gdLst>
              <a:ah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6680" cy="2859480"/>
            </a:xfrm>
            <a:custGeom>
              <a:avLst/>
              <a:gdLst>
                <a:gd name="textAreaLeft" fmla="*/ 0 w 346680"/>
                <a:gd name="textAreaRight" fmla="*/ 347760 w 346680"/>
                <a:gd name="textAreaTop" fmla="*/ 0 h 2859480"/>
                <a:gd name="textAreaBottom" fmla="*/ 2860560 h 2859480"/>
              </a:gdLst>
              <a:ah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0440" cy="1424520"/>
            </a:xfrm>
            <a:custGeom>
              <a:avLst/>
              <a:gdLst>
                <a:gd name="textAreaLeft" fmla="*/ 0 w 370440"/>
                <a:gd name="textAreaRight" fmla="*/ 371520 w 370440"/>
                <a:gd name="textAreaTop" fmla="*/ 0 h 1424520"/>
                <a:gd name="textAreaBottom" fmla="*/ 1425600 h 1424520"/>
              </a:gdLst>
              <a:ah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7960" cy="525960"/>
            </a:xfrm>
            <a:custGeom>
              <a:avLst/>
              <a:gdLst>
                <a:gd name="textAreaLeft" fmla="*/ 0 w 417960"/>
                <a:gd name="textAreaRight" fmla="*/ 419040 w 417960"/>
                <a:gd name="textAreaTop" fmla="*/ 0 h 525960"/>
                <a:gd name="textAreaBottom" fmla="*/ 527040 h 525960"/>
              </a:gdLst>
              <a:ah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240" cy="14652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200" cy="5102640"/>
            </a:xfrm>
            <a:custGeom>
              <a:avLst/>
              <a:gdLst>
                <a:gd name="textAreaLeft" fmla="*/ 0 w 232200"/>
                <a:gd name="textAreaRight" fmla="*/ 233280 w 232200"/>
                <a:gd name="textAreaTop" fmla="*/ 0 h 5102640"/>
                <a:gd name="textAreaBottom" fmla="*/ 5103720 h 5102640"/>
              </a:gdLst>
              <a:ah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4680" cy="184680"/>
            </a:xfrm>
            <a:custGeom>
              <a:avLst/>
              <a:gdLst>
                <a:gd name="textAreaLeft" fmla="*/ 0 w 184680"/>
                <a:gd name="textAreaRight" fmla="*/ 185760 w 184680"/>
                <a:gd name="textAreaTop" fmla="*/ 0 h 184680"/>
                <a:gd name="textAreaBottom" fmla="*/ 185760 h 184680"/>
              </a:gdLst>
              <a:ah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1"/>
          </p:nvPr>
        </p:nvSpPr>
        <p:spPr>
          <a:xfrm>
            <a:off x="1876320" y="5410080"/>
            <a:ext cx="51238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2"/>
          </p:nvPr>
        </p:nvSpPr>
        <p:spPr>
          <a:xfrm>
            <a:off x="9896760" y="541008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6BC861-228E-4587-AA0F-BCCDF1E6CFC3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3"/>
          </p:nvPr>
        </p:nvSpPr>
        <p:spPr>
          <a:xfrm>
            <a:off x="7077600" y="541008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105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106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107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4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135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9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0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2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45" name="PlaceHolder 1"/>
          <p:cNvSpPr>
            <a:spLocks noGrp="1"/>
          </p:cNvSpPr>
          <p:nvPr>
            <p:ph type="ftr" idx="4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ldNum" idx="5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32EC53-904E-43B7-B549-6E17D5A5B74F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6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149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150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151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3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4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6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8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9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0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1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6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7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8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0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1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2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3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4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5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78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179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1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2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3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4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5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6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8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89" name="PlaceHolder 1"/>
          <p:cNvSpPr>
            <a:spLocks noGrp="1"/>
          </p:cNvSpPr>
          <p:nvPr>
            <p:ph type="ftr" idx="7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8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7776B6-5B85-46AD-A09C-05B6C118AA4C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dt" idx="9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193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194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195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6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7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0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4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5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7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8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9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1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2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3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4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5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6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7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8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9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0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1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22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223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4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5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6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7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8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9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0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1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2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33" name="TextBox 59"/>
          <p:cNvSpPr/>
          <p:nvPr/>
        </p:nvSpPr>
        <p:spPr>
          <a:xfrm>
            <a:off x="903600" y="73224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Tw Cen MT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60"/>
          <p:cNvSpPr/>
          <p:nvPr/>
        </p:nvSpPr>
        <p:spPr>
          <a:xfrm>
            <a:off x="10537200" y="27648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Tw Cen MT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ftr" idx="10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1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49E835-F1B5-4D7B-9BEE-6CCD893AC0B3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dt" idx="12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239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240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241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2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3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4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5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6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7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8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9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0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1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3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4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5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6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7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8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9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0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1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2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3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4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5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6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7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68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269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0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1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2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4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5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6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7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8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79" name="PlaceHolder 1"/>
          <p:cNvSpPr>
            <a:spLocks noGrp="1"/>
          </p:cNvSpPr>
          <p:nvPr>
            <p:ph type="ftr" idx="13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ldNum" idx="14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4E41EB-3A7C-4973-A09E-6E17C555C3D3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dt" idx="15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283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284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285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6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7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8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9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0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1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2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3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4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5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7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8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9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0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1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2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3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4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5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6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7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8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9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0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1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12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313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4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5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6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7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8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9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0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1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2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23" name="PlaceHolder 1"/>
          <p:cNvSpPr>
            <a:spLocks noGrp="1"/>
          </p:cNvSpPr>
          <p:nvPr>
            <p:ph type="ftr" idx="16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ldNum" idx="17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C39BE8-606B-4DE2-9265-AAAFA6EEBBD2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dt" idx="18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327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328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329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0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1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2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3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4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5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6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7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8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9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1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2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3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4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5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6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7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8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9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0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1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2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3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4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5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56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357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8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9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0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1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2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3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4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5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6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67" name="PlaceHolder 1"/>
          <p:cNvSpPr>
            <a:spLocks noGrp="1"/>
          </p:cNvSpPr>
          <p:nvPr>
            <p:ph type="ftr" idx="19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20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C3EA340-07D7-4F91-BC27-9EC3C6C3D840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dt" idx="21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371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372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373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4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5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6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7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8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9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0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1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2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3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5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6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7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8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9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0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1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2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3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4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5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6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7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8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9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00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401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2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3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4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5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6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7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8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9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0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11" name="PlaceHolder 1"/>
          <p:cNvSpPr>
            <a:spLocks noGrp="1"/>
          </p:cNvSpPr>
          <p:nvPr>
            <p:ph type="ftr" idx="22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sldNum" idx="23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8DFB60-F731-4416-8785-D9FF82BB2CAA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dt" idx="24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415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416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417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8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9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0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1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2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3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4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5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6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7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9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0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1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2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3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4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5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6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7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8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9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0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1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2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3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44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445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6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7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8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9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0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1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2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3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4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55" name="PlaceHolder 1"/>
          <p:cNvSpPr>
            <a:spLocks noGrp="1"/>
          </p:cNvSpPr>
          <p:nvPr>
            <p:ph type="ftr" idx="25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sldNum" idx="26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4A0110-CEBD-4BF3-9430-82CAB3E5E4BA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dt" idx="27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459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460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461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2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3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4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5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6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7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8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9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0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1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3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4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5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6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7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8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9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0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1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2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3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4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5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6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7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88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489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0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1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2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3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4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5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6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7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8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04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ftr" idx="28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sldNum" idx="29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739289-8B9E-478D-9DC0-90610D76F037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3" name="PlaceHolder 5"/>
          <p:cNvSpPr>
            <a:spLocks noGrp="1"/>
          </p:cNvSpPr>
          <p:nvPr>
            <p:ph type="dt" idx="30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507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508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509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0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1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2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3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4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5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6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7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8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9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1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2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3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4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5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6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7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8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9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0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1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2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3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4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5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36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537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8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9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0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1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2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3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4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5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6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47" name="PlaceHolder 1"/>
          <p:cNvSpPr>
            <a:spLocks noGrp="1"/>
          </p:cNvSpPr>
          <p:nvPr>
            <p:ph type="ftr" idx="31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sldNum" idx="32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8E728D-0E0E-4520-8109-7FAA20CD4D91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dt" idx="33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551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552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553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4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5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6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7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8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9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0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1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2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3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5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6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7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8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9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0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1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2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3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4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5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6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7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8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9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80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581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2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3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4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5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6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7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8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9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0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3336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body"/>
          </p:nvPr>
        </p:nvSpPr>
        <p:spPr>
          <a:xfrm>
            <a:off x="6217200" y="2249640"/>
            <a:ext cx="483336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PlaceHolder 4"/>
          <p:cNvSpPr>
            <a:spLocks noGrp="1"/>
          </p:cNvSpPr>
          <p:nvPr>
            <p:ph type="ftr" idx="34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PlaceHolder 5"/>
          <p:cNvSpPr>
            <a:spLocks noGrp="1"/>
          </p:cNvSpPr>
          <p:nvPr>
            <p:ph type="sldNum" idx="35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D4FDFC-81E1-404E-B0AC-C03421697578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PlaceHolder 6"/>
          <p:cNvSpPr>
            <a:spLocks noGrp="1"/>
          </p:cNvSpPr>
          <p:nvPr>
            <p:ph type="dt" idx="36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601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602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603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4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5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6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7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8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9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0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1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2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3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5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6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7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8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9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0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1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2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3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4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5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6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7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8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9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30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631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2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3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4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5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6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7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8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9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0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41" name="PlaceHolder 1"/>
          <p:cNvSpPr>
            <a:spLocks noGrp="1"/>
          </p:cNvSpPr>
          <p:nvPr>
            <p:ph type="ftr" idx="37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sldNum" idx="38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351991-BA41-4022-9D12-687978CC8587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dt" idx="39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645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646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647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8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9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0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1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2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3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4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5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6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7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9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0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1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2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3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4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5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6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7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8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9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0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1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2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3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74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675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6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7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8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9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0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1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2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3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4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 type="ftr" idx="40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41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A9F901-A6E2-46B6-A296-9890CE0A2F1C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PlaceHolder 4"/>
          <p:cNvSpPr>
            <a:spLocks noGrp="1"/>
          </p:cNvSpPr>
          <p:nvPr>
            <p:ph type="dt" idx="42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691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692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693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4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5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6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7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8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9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0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1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2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3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5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6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7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8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9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0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1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2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3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4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5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6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7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8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9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20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721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2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3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4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5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6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7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8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9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0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31" name="PlaceHolder 1"/>
          <p:cNvSpPr>
            <a:spLocks noGrp="1"/>
          </p:cNvSpPr>
          <p:nvPr>
            <p:ph type="ftr" idx="43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ldNum" idx="44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950015-AECC-4F76-9168-7515396CE99B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dt" idx="45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735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736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737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8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9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0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1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2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3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4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5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6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7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9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0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1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2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3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4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5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6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7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8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9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0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1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2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3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64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765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6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7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8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9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0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1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2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3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4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75" name="PlaceHolder 1"/>
          <p:cNvSpPr>
            <a:spLocks noGrp="1"/>
          </p:cNvSpPr>
          <p:nvPr>
            <p:ph type="ftr" idx="46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sldNum" idx="47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CBF0F3-7D47-4AC9-ADFB-7D6DA6ED1F27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dt" idx="48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grpSp>
        <p:nvGrpSpPr>
          <p:cNvPr id="779" name="Group 7"/>
          <p:cNvGrpSpPr/>
          <p:nvPr/>
        </p:nvGrpSpPr>
        <p:grpSpPr>
          <a:xfrm>
            <a:off x="-14400" y="0"/>
            <a:ext cx="12052800" cy="6856920"/>
            <a:chOff x="-14400" y="0"/>
            <a:chExt cx="12052800" cy="6856920"/>
          </a:xfrm>
        </p:grpSpPr>
        <p:grpSp>
          <p:nvGrpSpPr>
            <p:cNvPr id="780" name="Group 8"/>
            <p:cNvGrpSpPr/>
            <p:nvPr/>
          </p:nvGrpSpPr>
          <p:grpSpPr>
            <a:xfrm>
              <a:off x="-14400" y="0"/>
              <a:ext cx="1220040" cy="6856920"/>
              <a:chOff x="-14400" y="0"/>
              <a:chExt cx="1220040" cy="6856920"/>
            </a:xfrm>
          </p:grpSpPr>
          <p:sp>
            <p:nvSpPr>
              <p:cNvPr id="781" name="Rectangle 5"/>
              <p:cNvSpPr/>
              <p:nvPr/>
            </p:nvSpPr>
            <p:spPr>
              <a:xfrm>
                <a:off x="114480" y="468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2" name="Freeform 6"/>
              <p:cNvSpPr/>
              <p:nvPr/>
            </p:nvSpPr>
            <p:spPr>
              <a:xfrm>
                <a:off x="33480" y="217656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3" name="Freeform 7"/>
              <p:cNvSpPr/>
              <p:nvPr/>
            </p:nvSpPr>
            <p:spPr>
              <a:xfrm>
                <a:off x="28440" y="4021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4" name="Freeform 8"/>
              <p:cNvSpPr/>
              <p:nvPr/>
            </p:nvSpPr>
            <p:spPr>
              <a:xfrm>
                <a:off x="200160" y="4680"/>
                <a:ext cx="368640" cy="181008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10080"/>
                  <a:gd name="textAreaBottom" fmla="*/ 1811160 h 181008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5" name="Freeform 9"/>
              <p:cNvSpPr/>
              <p:nvPr/>
            </p:nvSpPr>
            <p:spPr>
              <a:xfrm>
                <a:off x="503280" y="18018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6" name="Freeform 10"/>
              <p:cNvSpPr/>
              <p:nvPr/>
            </p:nvSpPr>
            <p:spPr>
              <a:xfrm>
                <a:off x="285840" y="4680"/>
                <a:ext cx="368640" cy="142920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429200"/>
                  <a:gd name="textAreaBottom" fmla="*/ 1430280 h 142920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7" name="Freeform 11"/>
              <p:cNvSpPr/>
              <p:nvPr/>
            </p:nvSpPr>
            <p:spPr>
              <a:xfrm>
                <a:off x="546120" y="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8" name="Freeform 12"/>
              <p:cNvSpPr/>
              <p:nvPr/>
            </p:nvSpPr>
            <p:spPr>
              <a:xfrm>
                <a:off x="588960" y="14209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9" name="Freeform 13"/>
              <p:cNvSpPr/>
              <p:nvPr/>
            </p:nvSpPr>
            <p:spPr>
              <a:xfrm>
                <a:off x="588960" y="9032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0" name="Freeform 14"/>
              <p:cNvSpPr/>
              <p:nvPr/>
            </p:nvSpPr>
            <p:spPr>
              <a:xfrm>
                <a:off x="641520" y="0"/>
                <a:ext cx="421200" cy="525960"/>
              </a:xfrm>
              <a:custGeom>
                <a:avLst/>
                <a:gdLst>
                  <a:gd name="textAreaLeft" fmla="*/ 0 w 421200"/>
                  <a:gd name="textAreaRight" fmla="*/ 422280 w 421200"/>
                  <a:gd name="textAreaTop" fmla="*/ 0 h 525960"/>
                  <a:gd name="textAreaBottom" fmla="*/ 527040 h 52596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1" name="Freeform 15"/>
              <p:cNvSpPr/>
              <p:nvPr/>
            </p:nvSpPr>
            <p:spPr>
              <a:xfrm>
                <a:off x="1020600" y="488880"/>
                <a:ext cx="160920" cy="146520"/>
              </a:xfrm>
              <a:custGeom>
                <a:avLst/>
                <a:gdLst>
                  <a:gd name="textAreaLeft" fmla="*/ 0 w 160920"/>
                  <a:gd name="textAreaRight" fmla="*/ 162000 w 16092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3" name="Freeform 17"/>
              <p:cNvSpPr/>
              <p:nvPr/>
            </p:nvSpPr>
            <p:spPr>
              <a:xfrm>
                <a:off x="9360" y="1801800"/>
                <a:ext cx="122760" cy="126000"/>
              </a:xfrm>
              <a:custGeom>
                <a:avLst/>
                <a:gdLst>
                  <a:gd name="textAreaLeft" fmla="*/ 0 w 122760"/>
                  <a:gd name="textAreaRight" fmla="*/ 123840 w 122760"/>
                  <a:gd name="textAreaTop" fmla="*/ 0 h 126000"/>
                  <a:gd name="textAreaBottom" fmla="*/ 127080 h 12600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4" name="Freeform 18"/>
              <p:cNvSpPr/>
              <p:nvPr/>
            </p:nvSpPr>
            <p:spPr>
              <a:xfrm>
                <a:off x="-9360" y="3549600"/>
                <a:ext cx="146520" cy="479880"/>
              </a:xfrm>
              <a:custGeom>
                <a:avLst/>
                <a:gdLst>
                  <a:gd name="textAreaLeft" fmla="*/ 0 w 146520"/>
                  <a:gd name="textAreaRight" fmla="*/ 147600 w 146520"/>
                  <a:gd name="textAreaTop" fmla="*/ 0 h 479880"/>
                  <a:gd name="textAreaBottom" fmla="*/ 480960 h 47988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5" name="Freeform 19"/>
              <p:cNvSpPr/>
              <p:nvPr/>
            </p:nvSpPr>
            <p:spPr>
              <a:xfrm>
                <a:off x="128520" y="1382760"/>
                <a:ext cx="141840" cy="475200"/>
              </a:xfrm>
              <a:custGeom>
                <a:avLst/>
                <a:gdLst>
                  <a:gd name="textAreaLeft" fmla="*/ 0 w 141840"/>
                  <a:gd name="textAreaRight" fmla="*/ 142920 w 141840"/>
                  <a:gd name="textAreaTop" fmla="*/ 0 h 475200"/>
                  <a:gd name="textAreaBottom" fmla="*/ 476280 h 47520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6" name="Freeform 20"/>
              <p:cNvSpPr/>
              <p:nvPr/>
            </p:nvSpPr>
            <p:spPr>
              <a:xfrm>
                <a:off x="204840" y="1849320"/>
                <a:ext cx="113400" cy="106920"/>
              </a:xfrm>
              <a:custGeom>
                <a:avLst/>
                <a:gdLst>
                  <a:gd name="textAreaLeft" fmla="*/ 0 w 113400"/>
                  <a:gd name="textAreaRight" fmla="*/ 114480 w 113400"/>
                  <a:gd name="textAreaTop" fmla="*/ 0 h 106920"/>
                  <a:gd name="textAreaBottom" fmla="*/ 108000 h 10692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7" name="Rectangle 21"/>
              <p:cNvSpPr/>
              <p:nvPr/>
            </p:nvSpPr>
            <p:spPr>
              <a:xfrm>
                <a:off x="133200" y="4662360"/>
                <a:ext cx="22680" cy="218016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8" name="Freeform 22"/>
              <p:cNvSpPr/>
              <p:nvPr/>
            </p:nvSpPr>
            <p:spPr>
              <a:xfrm>
                <a:off x="223920" y="5041800"/>
                <a:ext cx="368640" cy="1800720"/>
              </a:xfrm>
              <a:custGeom>
                <a:avLst/>
                <a:gdLst>
                  <a:gd name="textAreaLeft" fmla="*/ 0 w 368640"/>
                  <a:gd name="textAreaRight" fmla="*/ 369720 w 36864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9" name="Freeform 23"/>
              <p:cNvSpPr/>
              <p:nvPr/>
            </p:nvSpPr>
            <p:spPr>
              <a:xfrm>
                <a:off x="52560" y="4481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0" name="Freeform 24"/>
              <p:cNvSpPr/>
              <p:nvPr/>
            </p:nvSpPr>
            <p:spPr>
              <a:xfrm>
                <a:off x="-14400" y="5627520"/>
                <a:ext cx="84600" cy="1215000"/>
              </a:xfrm>
              <a:custGeom>
                <a:avLst/>
                <a:gdLst>
                  <a:gd name="textAreaLeft" fmla="*/ 0 w 84600"/>
                  <a:gd name="textAreaRight" fmla="*/ 85680 w 84600"/>
                  <a:gd name="textAreaTop" fmla="*/ 0 h 1215000"/>
                  <a:gd name="textAreaBottom" fmla="*/ 1216080 h 121500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1" name="Freeform 25"/>
              <p:cNvSpPr/>
              <p:nvPr/>
            </p:nvSpPr>
            <p:spPr>
              <a:xfrm>
                <a:off x="527040" y="486720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2" name="Freeform 26"/>
              <p:cNvSpPr/>
              <p:nvPr/>
            </p:nvSpPr>
            <p:spPr>
              <a:xfrm>
                <a:off x="309600" y="5423040"/>
                <a:ext cx="373680" cy="1424520"/>
              </a:xfrm>
              <a:custGeom>
                <a:avLst/>
                <a:gdLst>
                  <a:gd name="textAreaLeft" fmla="*/ 0 w 373680"/>
                  <a:gd name="textAreaRight" fmla="*/ 374760 w 373680"/>
                  <a:gd name="textAreaTop" fmla="*/ 0 h 1424520"/>
                  <a:gd name="textAreaBottom" fmla="*/ 1425600 h 142452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3" name="Freeform 27"/>
              <p:cNvSpPr/>
              <p:nvPr/>
            </p:nvSpPr>
            <p:spPr>
              <a:xfrm>
                <a:off x="569880" y="5945040"/>
                <a:ext cx="151200" cy="911880"/>
              </a:xfrm>
              <a:custGeom>
                <a:avLst/>
                <a:gdLst>
                  <a:gd name="textAreaLeft" fmla="*/ 0 w 151200"/>
                  <a:gd name="textAreaRight" fmla="*/ 152280 w 151200"/>
                  <a:gd name="textAreaTop" fmla="*/ 0 h 911880"/>
                  <a:gd name="textAreaBottom" fmla="*/ 912960 h 91188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4" name="Freeform 28"/>
              <p:cNvSpPr/>
              <p:nvPr/>
            </p:nvSpPr>
            <p:spPr>
              <a:xfrm>
                <a:off x="612720" y="524664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5" name="Freeform 29"/>
              <p:cNvSpPr/>
              <p:nvPr/>
            </p:nvSpPr>
            <p:spPr>
              <a:xfrm>
                <a:off x="612720" y="5764320"/>
                <a:ext cx="189360" cy="18936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6" name="Freeform 30"/>
              <p:cNvSpPr/>
              <p:nvPr/>
            </p:nvSpPr>
            <p:spPr>
              <a:xfrm>
                <a:off x="669960" y="6330960"/>
                <a:ext cx="416520" cy="51660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6600"/>
                  <a:gd name="textAreaBottom" fmla="*/ 517680 h 51660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7" name="Freeform 31"/>
              <p:cNvSpPr/>
              <p:nvPr/>
            </p:nvSpPr>
            <p:spPr>
              <a:xfrm>
                <a:off x="1049400" y="6221520"/>
                <a:ext cx="156240" cy="14652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46520"/>
                  <a:gd name="textAreaBottom" fmla="*/ 147600 h 14652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08" name="Group 9"/>
            <p:cNvGrpSpPr/>
            <p:nvPr/>
          </p:nvGrpSpPr>
          <p:grpSpPr>
            <a:xfrm>
              <a:off x="11364840" y="0"/>
              <a:ext cx="673560" cy="6847560"/>
              <a:chOff x="11364840" y="0"/>
              <a:chExt cx="673560" cy="6847560"/>
            </a:xfrm>
          </p:grpSpPr>
          <p:sp>
            <p:nvSpPr>
              <p:cNvPr id="809" name="Freeform 32"/>
              <p:cNvSpPr/>
              <p:nvPr/>
            </p:nvSpPr>
            <p:spPr>
              <a:xfrm>
                <a:off x="11484000" y="0"/>
                <a:ext cx="416520" cy="511560"/>
              </a:xfrm>
              <a:custGeom>
                <a:avLst/>
                <a:gdLst>
                  <a:gd name="textAreaLeft" fmla="*/ 0 w 416520"/>
                  <a:gd name="textAreaRight" fmla="*/ 417600 w 416520"/>
                  <a:gd name="textAreaTop" fmla="*/ 0 h 511560"/>
                  <a:gd name="textAreaBottom" fmla="*/ 512640 h 51156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0" name="Freeform 33"/>
              <p:cNvSpPr/>
              <p:nvPr/>
            </p:nvSpPr>
            <p:spPr>
              <a:xfrm>
                <a:off x="11364840" y="474840"/>
                <a:ext cx="156240" cy="15120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1200"/>
                  <a:gd name="textAreaBottom" fmla="*/ 152280 h 15120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1" name="Freeform 34"/>
              <p:cNvSpPr/>
              <p:nvPr/>
            </p:nvSpPr>
            <p:spPr>
              <a:xfrm>
                <a:off x="11631600" y="1539720"/>
                <a:ext cx="187920" cy="18936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9360"/>
                  <a:gd name="textAreaBottom" fmla="*/ 190440 h 18936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2" name="Freeform 35"/>
              <p:cNvSpPr/>
              <p:nvPr/>
            </p:nvSpPr>
            <p:spPr>
              <a:xfrm>
                <a:off x="11531520" y="5694480"/>
                <a:ext cx="297360" cy="1153080"/>
              </a:xfrm>
              <a:custGeom>
                <a:avLst/>
                <a:gdLst>
                  <a:gd name="textAreaLeft" fmla="*/ 0 w 297360"/>
                  <a:gd name="textAreaRight" fmla="*/ 298440 w 297360"/>
                  <a:gd name="textAreaTop" fmla="*/ 0 h 1153080"/>
                  <a:gd name="textAreaBottom" fmla="*/ 1154160 h 115308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3" name="Freeform 36"/>
              <p:cNvSpPr/>
              <p:nvPr/>
            </p:nvSpPr>
            <p:spPr>
              <a:xfrm>
                <a:off x="11773080" y="5551560"/>
                <a:ext cx="156240" cy="154440"/>
              </a:xfrm>
              <a:custGeom>
                <a:avLst/>
                <a:gdLst>
                  <a:gd name="textAreaLeft" fmla="*/ 0 w 156240"/>
                  <a:gd name="textAreaRight" fmla="*/ 157320 w 156240"/>
                  <a:gd name="textAreaTop" fmla="*/ 0 h 154440"/>
                  <a:gd name="textAreaBottom" fmla="*/ 155520 h 15444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4" name="Freeform 37"/>
              <p:cNvSpPr/>
              <p:nvPr/>
            </p:nvSpPr>
            <p:spPr>
              <a:xfrm>
                <a:off x="11711160" y="4680"/>
                <a:ext cx="303840" cy="1543680"/>
              </a:xfrm>
              <a:custGeom>
                <a:avLst/>
                <a:gdLst>
                  <a:gd name="textAreaLeft" fmla="*/ 0 w 303840"/>
                  <a:gd name="textAreaRight" fmla="*/ 304920 w 303840"/>
                  <a:gd name="textAreaTop" fmla="*/ 0 h 1543680"/>
                  <a:gd name="textAreaBottom" fmla="*/ 1544760 h 154368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5" name="Freeform 38"/>
              <p:cNvSpPr/>
              <p:nvPr/>
            </p:nvSpPr>
            <p:spPr>
              <a:xfrm>
                <a:off x="11636280" y="4867200"/>
                <a:ext cx="187920" cy="187920"/>
              </a:xfrm>
              <a:custGeom>
                <a:avLst/>
                <a:gdLst>
                  <a:gd name="textAreaLeft" fmla="*/ 0 w 187920"/>
                  <a:gd name="textAreaRight" fmla="*/ 189000 w 18792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6" name="Freeform 39"/>
              <p:cNvSpPr/>
              <p:nvPr/>
            </p:nvSpPr>
            <p:spPr>
              <a:xfrm>
                <a:off x="11441160" y="5046840"/>
                <a:ext cx="306720" cy="1800720"/>
              </a:xfrm>
              <a:custGeom>
                <a:avLst/>
                <a:gdLst>
                  <a:gd name="textAreaLeft" fmla="*/ 0 w 306720"/>
                  <a:gd name="textAreaRight" fmla="*/ 307800 w 306720"/>
                  <a:gd name="textAreaTop" fmla="*/ 0 h 1800720"/>
                  <a:gd name="textAreaBottom" fmla="*/ 1801800 h 180072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7" name="Freeform 40"/>
              <p:cNvSpPr/>
              <p:nvPr/>
            </p:nvSpPr>
            <p:spPr>
              <a:xfrm>
                <a:off x="11849040" y="6416640"/>
                <a:ext cx="189360" cy="187920"/>
              </a:xfrm>
              <a:custGeom>
                <a:avLst/>
                <a:gdLst>
                  <a:gd name="textAreaLeft" fmla="*/ 0 w 189360"/>
                  <a:gd name="textAreaRight" fmla="*/ 190440 w 189360"/>
                  <a:gd name="textAreaTop" fmla="*/ 0 h 187920"/>
                  <a:gd name="textAreaBottom" fmla="*/ 189000 h 18792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8" name="Rectangle 41"/>
              <p:cNvSpPr/>
              <p:nvPr/>
            </p:nvSpPr>
            <p:spPr>
              <a:xfrm>
                <a:off x="11939760" y="6595920"/>
                <a:ext cx="22680" cy="25128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819" name="PlaceHolder 1"/>
          <p:cNvSpPr>
            <a:spLocks noGrp="1"/>
          </p:cNvSpPr>
          <p:nvPr>
            <p:ph type="ftr" idx="49"/>
          </p:nvPr>
        </p:nvSpPr>
        <p:spPr>
          <a:xfrm>
            <a:off x="1141560" y="5883120"/>
            <a:ext cx="62380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PlaceHolder 2"/>
          <p:cNvSpPr>
            <a:spLocks noGrp="1"/>
          </p:cNvSpPr>
          <p:nvPr>
            <p:ph type="sldNum" idx="50"/>
          </p:nvPr>
        </p:nvSpPr>
        <p:spPr>
          <a:xfrm>
            <a:off x="10276200" y="5883120"/>
            <a:ext cx="770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E7B008-F0B6-47A8-B79A-5E03177D1889}" type="slidenum">
              <a:rPr b="0" lang="en-US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dt" idx="51"/>
          </p:nvPr>
        </p:nvSpPr>
        <p:spPr>
          <a:xfrm>
            <a:off x="7457040" y="58831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" descr="Τμήματα υπολογιστή 3D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rcRect l="0" t="0" r="-2" b="259"/>
          <a:stretch>
            <a:fillRect/>
          </a:stretch>
        </p:blipFill>
        <p:spPr>
          <a:xfrm>
            <a:off x="0" y="0"/>
            <a:ext cx="12187800" cy="6856920"/>
          </a:xfrm>
          <a:prstGeom prst="rect">
            <a:avLst/>
          </a:prstGeom>
          <a:ln w="0">
            <a:noFill/>
          </a:ln>
        </p:spPr>
      </p:pic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652800" y="971280"/>
            <a:ext cx="5039640" cy="23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200" spc="-1" strike="noStrike" cap="all">
                <a:solidFill>
                  <a:srgbClr val="ffffff"/>
                </a:solidFill>
                <a:latin typeface="Tw Cen MT"/>
              </a:rPr>
              <a:t>CPU USAGE PREDICTION WITH LTSM &amp; GRU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subTitle"/>
          </p:nvPr>
        </p:nvSpPr>
        <p:spPr>
          <a:xfrm>
            <a:off x="6652800" y="4482360"/>
            <a:ext cx="5039640" cy="17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ffffff"/>
                </a:solidFill>
                <a:latin typeface="Tw Cen MT"/>
              </a:rPr>
              <a:t>ATHANASIOS TASIS [1093503] &amp; KWNSTANTINOS ALEXOPOULOS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8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" restart="whenNotActive" nodeType="interactiveSeq" fill="hold">
                <p:stCondLst>
                  <p:cond delay="0" evt="onClick">
                    <p:tgtEl>
                      <p:spTgt spid="822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822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 repeatCount="indefinite">
                  <p:stCondLst>
                    <p:cond delay="indefinite"/>
                  </p:stCondLst>
                </p:cTn>
                <p:tgtEl>
                  <p:spTgt spid="82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1622520" y="-105480"/>
            <a:ext cx="927072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Preproces</a:t>
            </a: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sing</a:t>
            </a:r>
            <a:r>
              <a:rPr b="0" lang="el-GR" sz="2800" spc="-1" strike="noStrike" cap="all">
                <a:solidFill>
                  <a:schemeClr val="dk1"/>
                </a:solidFill>
                <a:latin typeface="Tw Cen MT"/>
              </a:rPr>
              <a:t> 1</a:t>
            </a: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 – </a:t>
            </a: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Analyzing </a:t>
            </a: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the data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092533616"/>
              </p:ext>
            </p:extLst>
          </p:nvPr>
        </p:nvGraphicFramePr>
        <p:xfrm>
          <a:off x="235800" y="2343600"/>
          <a:ext cx="11302200" cy="46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826" name="Εικόνα 7" descr="Εικόνα που περιέχει κείμενο, στιγμιότυπο οθόνης, γραμματοσειρά&#10;&#10;Το περιεχόμενο που δημιουργείται από τεχνολογία AI ενδέχεται να είναι εσφαλμένο."/>
          <p:cNvPicPr/>
          <p:nvPr/>
        </p:nvPicPr>
        <p:blipFill>
          <a:blip r:embed="rId6"/>
          <a:stretch/>
        </p:blipFill>
        <p:spPr>
          <a:xfrm>
            <a:off x="1451160" y="560520"/>
            <a:ext cx="9442080" cy="223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7" name="Rectangl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828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409040" y="-22680"/>
            <a:ext cx="3904200" cy="12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Preprocessing</a:t>
            </a:r>
            <a:r>
              <a:rPr b="0" lang="el-GR" sz="3200" spc="-1" strike="noStrike" cap="all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2 - Downsizing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30" name="Group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040" cy="6856920"/>
            <a:chOff x="0" y="0"/>
            <a:chExt cx="1220040" cy="6856920"/>
          </a:xfrm>
        </p:grpSpPr>
        <p:sp>
          <p:nvSpPr>
            <p:cNvPr id="831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2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3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4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8640" cy="181008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10080"/>
                <a:gd name="textAreaBottom" fmla="*/ 1811160 h 181008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5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6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8640" cy="142920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429200"/>
                <a:gd name="textAreaBottom" fmla="*/ 1430280 h 142920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7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8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39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200" cy="525960"/>
            </a:xfrm>
            <a:custGeom>
              <a:avLst/>
              <a:gdLst>
                <a:gd name="textAreaLeft" fmla="*/ 0 w 421200"/>
                <a:gd name="textAreaRight" fmla="*/ 422280 w 421200"/>
                <a:gd name="textAreaTop" fmla="*/ 0 h 525960"/>
                <a:gd name="textAreaBottom" fmla="*/ 527040 h 52596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1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0920" cy="14652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2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3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2760" cy="126000"/>
            </a:xfrm>
            <a:custGeom>
              <a:avLst/>
              <a:gdLst>
                <a:gd name="textAreaLeft" fmla="*/ 0 w 122760"/>
                <a:gd name="textAreaRight" fmla="*/ 123840 w 122760"/>
                <a:gd name="textAreaTop" fmla="*/ 0 h 126000"/>
                <a:gd name="textAreaBottom" fmla="*/ 127080 h 12600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4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6520" cy="479880"/>
            </a:xfrm>
            <a:custGeom>
              <a:avLst/>
              <a:gdLst>
                <a:gd name="textAreaLeft" fmla="*/ 0 w 146520"/>
                <a:gd name="textAreaRight" fmla="*/ 147600 w 146520"/>
                <a:gd name="textAreaTop" fmla="*/ 0 h 479880"/>
                <a:gd name="textAreaBottom" fmla="*/ 480960 h 47988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5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1840" cy="475200"/>
            </a:xfrm>
            <a:custGeom>
              <a:avLst/>
              <a:gdLst>
                <a:gd name="textAreaLeft" fmla="*/ 0 w 141840"/>
                <a:gd name="textAreaRight" fmla="*/ 142920 w 141840"/>
                <a:gd name="textAreaTop" fmla="*/ 0 h 475200"/>
                <a:gd name="textAreaBottom" fmla="*/ 476280 h 47520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6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3400" cy="106920"/>
            </a:xfrm>
            <a:custGeom>
              <a:avLst/>
              <a:gdLst>
                <a:gd name="textAreaLeft" fmla="*/ 0 w 113400"/>
                <a:gd name="textAreaRight" fmla="*/ 114480 w 11340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7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8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8640" cy="180072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00720"/>
                <a:gd name="textAreaBottom" fmla="*/ 1801800 h 180072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49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0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4600" cy="1215000"/>
            </a:xfrm>
            <a:custGeom>
              <a:avLst/>
              <a:gdLst>
                <a:gd name="textAreaLeft" fmla="*/ 0 w 84600"/>
                <a:gd name="textAreaRight" fmla="*/ 85680 w 84600"/>
                <a:gd name="textAreaTop" fmla="*/ 0 h 1215000"/>
                <a:gd name="textAreaBottom" fmla="*/ 1216080 h 121500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1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2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3680" cy="1424520"/>
            </a:xfrm>
            <a:custGeom>
              <a:avLst/>
              <a:gdLst>
                <a:gd name="textAreaLeft" fmla="*/ 0 w 373680"/>
                <a:gd name="textAreaRight" fmla="*/ 374760 w 373680"/>
                <a:gd name="textAreaTop" fmla="*/ 0 h 1424520"/>
                <a:gd name="textAreaBottom" fmla="*/ 1425600 h 142452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3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4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5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6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6520" cy="516600"/>
            </a:xfrm>
            <a:custGeom>
              <a:avLst/>
              <a:gdLst>
                <a:gd name="textAreaLeft" fmla="*/ 0 w 416520"/>
                <a:gd name="textAreaRight" fmla="*/ 417600 w 416520"/>
                <a:gd name="textAreaTop" fmla="*/ 0 h 516600"/>
                <a:gd name="textAreaBottom" fmla="*/ 517680 h 51660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57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240" cy="14652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858" name="Diagram2"/>
          <p:cNvGrpSpPr/>
          <p:nvPr/>
        </p:nvGrpSpPr>
        <p:grpSpPr>
          <a:xfrm>
            <a:off x="512280" y="1224000"/>
            <a:ext cx="5392800" cy="4851720"/>
            <a:chOff x="512280" y="1224000"/>
            <a:chExt cx="5392800" cy="4851720"/>
          </a:xfrm>
        </p:grpSpPr>
        <p:sp>
          <p:nvSpPr>
            <p:cNvPr id="859" name=""/>
            <p:cNvSpPr/>
            <p:nvPr/>
          </p:nvSpPr>
          <p:spPr>
            <a:xfrm>
              <a:off x="512280" y="1224000"/>
              <a:ext cx="5391720" cy="48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0" name=""/>
            <p:cNvSpPr/>
            <p:nvPr/>
          </p:nvSpPr>
          <p:spPr>
            <a:xfrm>
              <a:off x="512280" y="5511600"/>
              <a:ext cx="5392080" cy="561960"/>
            </a:xfrm>
            <a:prstGeom prst="rect">
              <a:avLst/>
            </a:prstGeom>
            <a:gradFill rotWithShape="0">
              <a:gsLst>
                <a:gs pos="0">
                  <a:srgbClr val="feb25d"/>
                </a:gs>
                <a:gs pos="100000">
                  <a:srgbClr val="f3981a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5) memory usage: Σταθερό! Οπότε ας το βγάλουμε… 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(κατόπιν συνεννόησης με τον υπεύθυνο).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1" name=""/>
            <p:cNvSpPr/>
            <p:nvPr/>
          </p:nvSpPr>
          <p:spPr>
            <a:xfrm rot="10800000">
              <a:off x="513000" y="4655520"/>
              <a:ext cx="5392080" cy="86472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gradFill rotWithShape="0">
              <a:gsLst>
                <a:gs pos="0">
                  <a:srgbClr val="d96f5f"/>
                </a:gs>
                <a:gs pos="100000">
                  <a:srgbClr val="cb4226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 rot="10800000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chemeClr val="lt1"/>
                  </a:solidFill>
                  <a:latin typeface="Tw Cen MT"/>
                </a:rPr>
                <a:t>4) Αφέραιση όλων των NaN τιμών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2" name=""/>
            <p:cNvSpPr/>
            <p:nvPr/>
          </p:nvSpPr>
          <p:spPr>
            <a:xfrm rot="10800000">
              <a:off x="513000" y="3798360"/>
              <a:ext cx="5392080" cy="86472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gradFill rotWithShape="0">
              <a:gsLst>
                <a:gs pos="0">
                  <a:srgbClr val="bb6ed9"/>
                </a:gs>
                <a:gs pos="100000">
                  <a:srgbClr val="a33ec8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 rot="10800000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3) timestamp: “from” 13.500 κόμβοι, δειγματοληψία ταυτόχρονα κάθε 30 second για 12 ώρες → “to” incremental integer (0-1439 διακριτοί χρόνοι)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3" name=""/>
            <p:cNvSpPr/>
            <p:nvPr/>
          </p:nvSpPr>
          <p:spPr>
            <a:xfrm rot="10800000">
              <a:off x="513000" y="2940480"/>
              <a:ext cx="5392080" cy="86472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gradFill rotWithShape="0">
              <a:gsLst>
                <a:gs pos="0">
                  <a:srgbClr val="78aad3"/>
                </a:gs>
                <a:gs pos="100000">
                  <a:srgbClr val="498ebf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 rot="10800000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2) CPU decimal presision: “from” 16 ψηφία → “to” 4 ψηφία. 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(aka 0.7845 “is” 78.45% cpu usage).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"/>
            <p:cNvSpPr/>
            <p:nvPr/>
          </p:nvSpPr>
          <p:spPr>
            <a:xfrm rot="10800000">
              <a:off x="513000" y="2083320"/>
              <a:ext cx="5392080" cy="86472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gradFill rotWithShape="0">
              <a:gsLst>
                <a:gs pos="0">
                  <a:srgbClr val="97ccb0"/>
                </a:gs>
                <a:gs pos="100000">
                  <a:srgbClr val="72b292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 rot="10800000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1) nodeid: “from” 64 HEX string</a:t>
              </a:r>
              <a:r>
                <a:rPr b="0" lang="en-US" sz="1100" spc="-1" strike="noStrike">
                  <a:solidFill>
                    <a:schemeClr val="lt1"/>
                  </a:solidFill>
                  <a:latin typeface="Tw Cen MT"/>
                </a:rPr>
                <a:t> -&gt;</a:t>
              </a: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 “to” incremental integer (1 - 13.500)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5" name=""/>
            <p:cNvSpPr/>
            <p:nvPr/>
          </p:nvSpPr>
          <p:spPr>
            <a:xfrm rot="10800000">
              <a:off x="513000" y="1226520"/>
              <a:ext cx="5392080" cy="86472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gradFill rotWithShape="0">
              <a:gsLst>
                <a:gs pos="0">
                  <a:srgbClr val="feb25d"/>
                </a:gs>
                <a:gs pos="100000">
                  <a:srgbClr val="f3981a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numCol="1" spcCol="1440" lIns="78120" rIns="78120" tIns="78120" bIns="78120" anchor="ctr" rot="10800000">
              <a:noAutofit/>
            </a:bodyPr>
            <a:p>
              <a:pPr algn="ctr" defTabSz="488880">
                <a:lnSpc>
                  <a:spcPct val="90000"/>
                </a:lnSpc>
                <a:spcAft>
                  <a:spcPts val="386"/>
                </a:spcAft>
                <a:tabLst>
                  <a:tab algn="l" pos="0"/>
                </a:tabLst>
              </a:pPr>
              <a:r>
                <a:rPr b="0" lang="el-GR" sz="1100" spc="-1" strike="noStrike">
                  <a:solidFill>
                    <a:schemeClr val="lt1"/>
                  </a:solidFill>
                  <a:latin typeface="Tw Cen MT"/>
                </a:rPr>
                <a:t>Μείωση μεγέθους αρχείου με αποκοπή περιττής πληροφορίας: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66" name="" descr=""/>
          <p:cNvPicPr/>
          <p:nvPr/>
        </p:nvPicPr>
        <p:blipFill>
          <a:blip r:embed="rId3"/>
          <a:stretch/>
        </p:blipFill>
        <p:spPr>
          <a:xfrm>
            <a:off x="6172200" y="678600"/>
            <a:ext cx="5714280" cy="572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f99c8"/>
            </a:gs>
            <a:gs pos="100000">
              <a:srgbClr val="002456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7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How should we approach this?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69" name="Diagram2"/>
          <p:cNvGrpSpPr/>
          <p:nvPr/>
        </p:nvGrpSpPr>
        <p:grpSpPr>
          <a:xfrm>
            <a:off x="1141560" y="2440800"/>
            <a:ext cx="9905760" cy="3583800"/>
            <a:chOff x="1141560" y="2440800"/>
            <a:chExt cx="9905760" cy="3583800"/>
          </a:xfrm>
        </p:grpSpPr>
        <p:sp>
          <p:nvSpPr>
            <p:cNvPr id="870" name=""/>
            <p:cNvSpPr/>
            <p:nvPr/>
          </p:nvSpPr>
          <p:spPr>
            <a:xfrm>
              <a:off x="1141560" y="2440800"/>
              <a:ext cx="9905040" cy="358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1" name=""/>
            <p:cNvSpPr/>
            <p:nvPr/>
          </p:nvSpPr>
          <p:spPr>
            <a:xfrm>
              <a:off x="1141920" y="2831400"/>
              <a:ext cx="2336040" cy="2802960"/>
            </a:xfrm>
            <a:prstGeom prst="rect">
              <a:avLst/>
            </a:prstGeom>
            <a:gradFill rotWithShape="0">
              <a:gsLst>
                <a:gs pos="0">
                  <a:srgbClr val="feb25d"/>
                </a:gs>
                <a:gs pos="100000">
                  <a:srgbClr val="f3981a"/>
                </a:gs>
              </a:gsLst>
              <a:lin ang="5400000"/>
            </a:gradFill>
            <a:ln>
              <a:solidFill>
                <a:srgbClr val="faa93a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121400" bIns="330120" anchor="t">
              <a:noAutofit/>
            </a:bodyPr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Αρχιτεκτονική? Ιδέα…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Ξεχωριστό LSTM για κάθε κόμβο!?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Ας δούμε πόσο καλά μαθαίνει το μοντέλο μόνο με 1440 τιμές...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2" name=""/>
            <p:cNvSpPr/>
            <p:nvPr/>
          </p:nvSpPr>
          <p:spPr>
            <a:xfrm>
              <a:off x="1141920" y="2831400"/>
              <a:ext cx="23360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65240" bIns="165240" anchor="ctr">
              <a:noAutofit/>
            </a:bodyPr>
            <a:p>
              <a:pPr defTabSz="2800440">
                <a:lnSpc>
                  <a:spcPct val="90000"/>
                </a:lnSpc>
                <a:spcAft>
                  <a:spcPts val="2205"/>
                </a:spcAft>
                <a:tabLst>
                  <a:tab algn="l" pos="0"/>
                </a:tabLst>
              </a:pPr>
              <a:r>
                <a:rPr b="0" lang="en-US" sz="6300" spc="-1" strike="noStrike">
                  <a:solidFill>
                    <a:schemeClr val="lt1"/>
                  </a:solidFill>
                  <a:latin typeface="Tw Cen MT"/>
                </a:rPr>
                <a:t>01</a:t>
              </a:r>
              <a:endParaRPr b="0" lang="en-US" sz="6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3" name=""/>
            <p:cNvSpPr/>
            <p:nvPr/>
          </p:nvSpPr>
          <p:spPr>
            <a:xfrm>
              <a:off x="3664800" y="2831400"/>
              <a:ext cx="2336040" cy="2802960"/>
            </a:xfrm>
            <a:prstGeom prst="rect">
              <a:avLst/>
            </a:prstGeom>
            <a:gradFill rotWithShape="0">
              <a:gsLst>
                <a:gs pos="0">
                  <a:srgbClr val="d96f5f"/>
                </a:gs>
                <a:gs pos="100000">
                  <a:srgbClr val="cb4226"/>
                </a:gs>
              </a:gsLst>
              <a:lin ang="5400000"/>
            </a:gradFill>
            <a:ln>
              <a:solidFill>
                <a:srgbClr val="d35940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121400" bIns="330120" anchor="t">
              <a:noAutofit/>
            </a:bodyPr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4" name=""/>
            <p:cNvSpPr/>
            <p:nvPr/>
          </p:nvSpPr>
          <p:spPr>
            <a:xfrm>
              <a:off x="3664800" y="2831400"/>
              <a:ext cx="23360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65240" bIns="165240" anchor="ctr">
              <a:noAutofit/>
            </a:bodyPr>
            <a:p>
              <a:pPr defTabSz="2800440">
                <a:lnSpc>
                  <a:spcPct val="90000"/>
                </a:lnSpc>
                <a:spcAft>
                  <a:spcPts val="2205"/>
                </a:spcAft>
                <a:tabLst>
                  <a:tab algn="l" pos="0"/>
                </a:tabLst>
              </a:pPr>
              <a:r>
                <a:rPr b="0" lang="en-US" sz="6300" spc="-1" strike="noStrike">
                  <a:solidFill>
                    <a:schemeClr val="lt1"/>
                  </a:solidFill>
                  <a:latin typeface="Tw Cen MT"/>
                </a:rPr>
                <a:t>02</a:t>
              </a:r>
              <a:endParaRPr b="0" lang="en-US" sz="6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5" name=""/>
            <p:cNvSpPr/>
            <p:nvPr/>
          </p:nvSpPr>
          <p:spPr>
            <a:xfrm>
              <a:off x="6188040" y="2831400"/>
              <a:ext cx="2336040" cy="2802960"/>
            </a:xfrm>
            <a:prstGeom prst="rect">
              <a:avLst/>
            </a:prstGeom>
            <a:gradFill rotWithShape="0">
              <a:gsLst>
                <a:gs pos="0">
                  <a:srgbClr val="bb6ed9"/>
                </a:gs>
                <a:gs pos="100000">
                  <a:srgbClr val="a33ec8"/>
                </a:gs>
              </a:gsLst>
              <a:lin ang="5400000"/>
            </a:gradFill>
            <a:ln>
              <a:solidFill>
                <a:srgbClr val="b258d3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121400" bIns="330120" anchor="t">
              <a:noAutofit/>
            </a:bodyPr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6" name=""/>
            <p:cNvSpPr/>
            <p:nvPr/>
          </p:nvSpPr>
          <p:spPr>
            <a:xfrm>
              <a:off x="6188040" y="2831400"/>
              <a:ext cx="23360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65240" bIns="165240" anchor="ctr">
              <a:noAutofit/>
            </a:bodyPr>
            <a:p>
              <a:pPr defTabSz="2800440">
                <a:lnSpc>
                  <a:spcPct val="90000"/>
                </a:lnSpc>
                <a:spcAft>
                  <a:spcPts val="2205"/>
                </a:spcAft>
                <a:tabLst>
                  <a:tab algn="l" pos="0"/>
                </a:tabLst>
              </a:pPr>
              <a:r>
                <a:rPr b="0" lang="en-US" sz="6300" spc="-1" strike="noStrike">
                  <a:solidFill>
                    <a:schemeClr val="lt1"/>
                  </a:solidFill>
                  <a:latin typeface="Tw Cen MT"/>
                </a:rPr>
                <a:t>03</a:t>
              </a:r>
              <a:endParaRPr b="0" lang="en-US" sz="6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7" name=""/>
            <p:cNvSpPr/>
            <p:nvPr/>
          </p:nvSpPr>
          <p:spPr>
            <a:xfrm>
              <a:off x="8711280" y="2831400"/>
              <a:ext cx="2336040" cy="2802960"/>
            </a:xfrm>
            <a:prstGeom prst="rect">
              <a:avLst/>
            </a:prstGeom>
            <a:gradFill rotWithShape="0">
              <a:gsLst>
                <a:gs pos="0">
                  <a:srgbClr val="78aad3"/>
                </a:gs>
                <a:gs pos="100000">
                  <a:srgbClr val="498ebf"/>
                </a:gs>
              </a:gsLst>
              <a:lin ang="5400000"/>
            </a:gradFill>
            <a:ln>
              <a:solidFill>
                <a:srgbClr val="63a0cc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121400" bIns="330120" anchor="t">
              <a:noAutofit/>
            </a:bodyPr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Αριθμός epoch?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	</a:t>
              </a: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5-10 (?)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More =! better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defTabSz="533520">
                <a:lnSpc>
                  <a:spcPct val="90000"/>
                </a:lnSpc>
                <a:spcAft>
                  <a:spcPts val="420"/>
                </a:spcAft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chemeClr val="lt1"/>
                  </a:solidFill>
                  <a:latin typeface="Tw Cen MT"/>
                </a:rPr>
                <a:t>Μια ισορροπία χρόνου προπόνησης και result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8" name=""/>
            <p:cNvSpPr/>
            <p:nvPr/>
          </p:nvSpPr>
          <p:spPr>
            <a:xfrm>
              <a:off x="8711280" y="2831400"/>
              <a:ext cx="2336040" cy="1121040"/>
            </a:xfrm>
            <a:prstGeom prst="rect">
              <a:avLst/>
            </a:prstGeom>
            <a:noFill/>
            <a:ln>
              <a:noFill/>
            </a:ln>
          </p:spPr>
          <p:style>
            <a:lnRef idx="1"/>
            <a:fillRef idx="0"/>
            <a:effectRef idx="2"/>
            <a:fontRef idx="minor"/>
          </p:style>
          <p:txBody>
            <a:bodyPr numCol="1" spcCol="1440" lIns="230760" rIns="230760" tIns="165240" bIns="165240" anchor="ctr">
              <a:noAutofit/>
            </a:bodyPr>
            <a:p>
              <a:pPr defTabSz="2800440">
                <a:lnSpc>
                  <a:spcPct val="90000"/>
                </a:lnSpc>
                <a:spcAft>
                  <a:spcPts val="2205"/>
                </a:spcAft>
                <a:tabLst>
                  <a:tab algn="l" pos="0"/>
                </a:tabLst>
              </a:pPr>
              <a:r>
                <a:rPr b="0" lang="en-US" sz="6300" spc="-1" strike="noStrike">
                  <a:solidFill>
                    <a:schemeClr val="lt1"/>
                  </a:solidFill>
                  <a:latin typeface="Tw Cen MT"/>
                </a:rPr>
                <a:t>04</a:t>
              </a:r>
              <a:endParaRPr b="0" lang="en-US" sz="63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79" name=""/>
          <p:cNvSpPr txBox="1"/>
          <p:nvPr/>
        </p:nvSpPr>
        <p:spPr>
          <a:xfrm>
            <a:off x="6214680" y="3886200"/>
            <a:ext cx="2243520" cy="154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Sequence length?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                 </a:t>
            </a: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32 – 64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Πόσες τιμές να λάβει υπόψη το μοντέλο για να κάνει μια πρόβλεψη?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3700080" y="3886200"/>
            <a:ext cx="2243520" cy="154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Train – Test split?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	</a:t>
            </a: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80% - 20%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Ανα κόμβο...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Tw Cen MT"/>
              </a:rPr>
              <a:t>Προσοχή, data leakage!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04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-GR" sz="3600" spc="-1" strike="noStrike" cap="all">
                <a:solidFill>
                  <a:schemeClr val="dk1"/>
                </a:solidFill>
                <a:latin typeface="Tw Cen MT"/>
              </a:rPr>
              <a:t>Μετρικεσ λαθουσ &amp; προβληματα που αντιμετωπισαμε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2" name="Diagram3"/>
          <p:cNvGrpSpPr/>
          <p:nvPr/>
        </p:nvGrpSpPr>
        <p:grpSpPr>
          <a:xfrm>
            <a:off x="1141560" y="2418840"/>
            <a:ext cx="9905040" cy="3141720"/>
            <a:chOff x="1141560" y="2418840"/>
            <a:chExt cx="9905040" cy="3141720"/>
          </a:xfrm>
        </p:grpSpPr>
        <p:sp>
          <p:nvSpPr>
            <p:cNvPr id="883" name=""/>
            <p:cNvSpPr/>
            <p:nvPr/>
          </p:nvSpPr>
          <p:spPr>
            <a:xfrm>
              <a:off x="1141560" y="2418840"/>
              <a:ext cx="9905040" cy="314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4" name=""/>
            <p:cNvSpPr/>
            <p:nvPr/>
          </p:nvSpPr>
          <p:spPr>
            <a:xfrm>
              <a:off x="1147680" y="2420280"/>
              <a:ext cx="4239720" cy="26920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4c6383"/>
                </a:gs>
                <a:gs pos="100000">
                  <a:srgbClr val="053f6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2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5" name=""/>
            <p:cNvSpPr/>
            <p:nvPr/>
          </p:nvSpPr>
          <p:spPr>
            <a:xfrm>
              <a:off x="1618920" y="2867760"/>
              <a:ext cx="4239720" cy="2692080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134770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0"/>
            <a:fontRef idx="minor"/>
          </p:style>
          <p:txBody>
            <a:bodyPr numCol="1" spcCol="1440" lIns="64800" rIns="64800" tIns="64800" bIns="64800" anchor="ctr">
              <a:noAutofit/>
            </a:bodyPr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Μετρικές λάθους ορίζουμε τις: 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&lt;&lt;</a:t>
              </a: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MSE, MAE, MAPE&gt;&gt;. 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Τα papers υποδεικνύουν αρχικό στόχο MAPE</a:t>
              </a: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 &lt;20% κ’ αργότερα MAPE &lt;10%. 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Hint: </a:t>
              </a: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Plot</a:t>
              </a: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 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l-GR" sz="1700" spc="-1" strike="noStrike">
                  <a:solidFill>
                    <a:srgbClr val="000000"/>
                  </a:solidFill>
                  <a:latin typeface="Tw Cen MT"/>
                </a:rPr>
                <a:t>A</a:t>
              </a: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ctual vs Predicted_cpu_usage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Εντόπισε συστηματικά λάθη...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6" name=""/>
            <p:cNvSpPr/>
            <p:nvPr/>
          </p:nvSpPr>
          <p:spPr>
            <a:xfrm>
              <a:off x="6330240" y="2420280"/>
              <a:ext cx="4239720" cy="26920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4c6383"/>
                </a:gs>
                <a:gs pos="100000">
                  <a:srgbClr val="053f6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2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7" name=""/>
            <p:cNvSpPr/>
            <p:nvPr/>
          </p:nvSpPr>
          <p:spPr>
            <a:xfrm>
              <a:off x="6801120" y="2867760"/>
              <a:ext cx="4239720" cy="2692080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134770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1"/>
            <a:fillRef idx="0"/>
            <a:effectRef idx="0"/>
            <a:fontRef idx="minor"/>
          </p:style>
          <p:txBody>
            <a:bodyPr numCol="1" spcCol="1440" lIns="64800" rIns="64800" tIns="64800" bIns="64800" anchor="ctr">
              <a:noAutofit/>
            </a:bodyPr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Πρόβλημα!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Κάθε κόμβος εχει το “δικό του” LSTM.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Μεγάλη εξάρτηση απο τα δεδομένα.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Node 5: MAPE horizon 5 → 12.14%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Node 256: MAPE horizon 5 → 62%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755640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700" spc="-1" strike="noStrike">
                  <a:solidFill>
                    <a:srgbClr val="000000"/>
                  </a:solidFill>
                  <a:latin typeface="Tw Cen MT"/>
                </a:rPr>
                <a:t>Μακάρι το μοντέλο να μπορούσε να “γενικεύσει” patterns απο κάθε κόμβο.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649080" y="102600"/>
            <a:ext cx="5097600" cy="128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-GR" sz="3600" spc="-1" strike="noStrike" cap="all">
                <a:solidFill>
                  <a:schemeClr val="dk1"/>
                </a:solidFill>
                <a:latin typeface="Tw Cen MT"/>
              </a:rPr>
              <a:t>ΠΡΟΒΛΗΜΑΤΑ &amp; ΛΥΣΕΙΣ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Εικόνα 5"/>
          <p:cNvSpPr/>
          <p:nvPr/>
        </p:nvSpPr>
        <p:spPr>
          <a:xfrm>
            <a:off x="55800" y="1450800"/>
            <a:ext cx="4318920" cy="233892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2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Εικόνα 8"/>
          <p:cNvSpPr/>
          <p:nvPr/>
        </p:nvSpPr>
        <p:spPr>
          <a:xfrm>
            <a:off x="4547160" y="1208160"/>
            <a:ext cx="2932920" cy="310572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3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Εικόνα 4"/>
          <p:cNvSpPr/>
          <p:nvPr/>
        </p:nvSpPr>
        <p:spPr>
          <a:xfrm>
            <a:off x="0" y="4691520"/>
            <a:ext cx="3350520" cy="155808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4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Εικόνα 6"/>
          <p:cNvSpPr/>
          <p:nvPr/>
        </p:nvSpPr>
        <p:spPr>
          <a:xfrm>
            <a:off x="3597480" y="4753440"/>
            <a:ext cx="3882960" cy="143640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5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/>
          </p:nvPr>
        </p:nvSpPr>
        <p:spPr>
          <a:xfrm>
            <a:off x="7543800" y="1600200"/>
            <a:ext cx="4648320" cy="354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222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CPU (&amp;memory (green)) total usage. Βλέπουμε μια εποχικότητα που ίσως πιάσει ενα πιο γενικευμένο μοντέλο.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Rule out extreme notes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228600"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Watch out for spikes in the data!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383400" y="0"/>
            <a:ext cx="6144120" cy="88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1111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EVALUATI</a:t>
            </a: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ON OF </a:t>
            </a: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THE </a:t>
            </a: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MODEL(L</a:t>
            </a: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STM)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5" name="Εικόνα 4" descr=""/>
          <p:cNvPicPr/>
          <p:nvPr/>
        </p:nvPicPr>
        <p:blipFill>
          <a:blip r:embed="rId1"/>
          <a:stretch/>
        </p:blipFill>
        <p:spPr>
          <a:xfrm>
            <a:off x="6715440" y="177120"/>
            <a:ext cx="5092200" cy="3096000"/>
          </a:xfrm>
          <a:prstGeom prst="rect">
            <a:avLst/>
          </a:prstGeom>
          <a:ln w="0">
            <a:noFill/>
          </a:ln>
        </p:spPr>
      </p:pic>
      <p:sp>
        <p:nvSpPr>
          <p:cNvPr id="896" name="TextBox 5"/>
          <p:cNvSpPr/>
          <p:nvPr/>
        </p:nvSpPr>
        <p:spPr>
          <a:xfrm>
            <a:off x="6523560" y="3244320"/>
            <a:ext cx="536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50000"/>
                  </a:schemeClr>
                </a:solidFill>
                <a:latin typeface="Tw Cen MT"/>
              </a:rPr>
              <a:t>Training vs Validation loss OVERFITTING!!!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7" name="Εικόνα 7" descr="Εικόνα που περιέχει κείμενο, στιγμιότυπο οθόνης, γραμματοσειρά, αριθμός&#10;&#10;Το περιεχόμενο που δημιουργείται από τεχνολογία AI ενδέχεται να είναι εσφαλμένο."/>
          <p:cNvPicPr/>
          <p:nvPr/>
        </p:nvPicPr>
        <p:blipFill>
          <a:blip r:embed="rId2"/>
          <a:stretch/>
        </p:blipFill>
        <p:spPr>
          <a:xfrm>
            <a:off x="1645920" y="978480"/>
            <a:ext cx="3662640" cy="1287720"/>
          </a:xfrm>
          <a:prstGeom prst="rect">
            <a:avLst/>
          </a:prstGeom>
          <a:ln w="0">
            <a:noFill/>
          </a:ln>
        </p:spPr>
      </p:pic>
      <p:sp>
        <p:nvSpPr>
          <p:cNvPr id="898" name="TextBox 8"/>
          <p:cNvSpPr/>
          <p:nvPr/>
        </p:nvSpPr>
        <p:spPr>
          <a:xfrm>
            <a:off x="2327760" y="2232360"/>
            <a:ext cx="234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50000"/>
                  </a:schemeClr>
                </a:solidFill>
                <a:latin typeface="Tw Cen MT"/>
              </a:rPr>
              <a:t>METRICS FOR NODE 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9" name="Εικόνα 10" descr="Εικόνα που περιέχει κείμενο, στιγμιότυπο οθόνης, γραμματοσειρά, αριθμός"/>
          <p:cNvPicPr/>
          <p:nvPr/>
        </p:nvPicPr>
        <p:blipFill>
          <a:blip r:embed="rId3"/>
          <a:stretch/>
        </p:blipFill>
        <p:spPr>
          <a:xfrm>
            <a:off x="1645920" y="2660040"/>
            <a:ext cx="3662640" cy="1284480"/>
          </a:xfrm>
          <a:prstGeom prst="rect">
            <a:avLst/>
          </a:prstGeom>
          <a:ln w="0">
            <a:noFill/>
          </a:ln>
        </p:spPr>
      </p:pic>
      <p:pic>
        <p:nvPicPr>
          <p:cNvPr id="900" name="Εικόνα 12" descr="Εικόνα που περιέχει κείμενο, στιγμιότυπο οθόνης, γραμματοσειρά, αριθμός"/>
          <p:cNvPicPr/>
          <p:nvPr/>
        </p:nvPicPr>
        <p:blipFill>
          <a:blip r:embed="rId4"/>
          <a:stretch/>
        </p:blipFill>
        <p:spPr>
          <a:xfrm>
            <a:off x="1645920" y="4431600"/>
            <a:ext cx="3662640" cy="1400760"/>
          </a:xfrm>
          <a:prstGeom prst="rect">
            <a:avLst/>
          </a:prstGeom>
          <a:ln w="0">
            <a:noFill/>
          </a:ln>
        </p:spPr>
      </p:pic>
      <p:sp>
        <p:nvSpPr>
          <p:cNvPr id="901" name="TextBox 13"/>
          <p:cNvSpPr/>
          <p:nvPr/>
        </p:nvSpPr>
        <p:spPr>
          <a:xfrm>
            <a:off x="2327760" y="4003920"/>
            <a:ext cx="234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85000"/>
                  </a:schemeClr>
                </a:solidFill>
                <a:latin typeface="Tw Cen MT"/>
              </a:rPr>
              <a:t>WITH SEQ_LEN 20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Box 14"/>
          <p:cNvSpPr/>
          <p:nvPr/>
        </p:nvSpPr>
        <p:spPr>
          <a:xfrm>
            <a:off x="2305080" y="5833440"/>
            <a:ext cx="2343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85000"/>
                  </a:schemeClr>
                </a:solidFill>
                <a:latin typeface="Tw Cen MT"/>
              </a:rPr>
              <a:t>WITH SEQ_LEN 60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3" name="Εικόνα 16" descr="Εικόνα που περιέχει κείμενο, γράφημα, γραμμή, διάγραμμα&#10;&#10;Το περιεχόμενο που δημιουργείται από τεχνολογία AI ενδέχεται να είναι εσφαλμένο."/>
          <p:cNvPicPr/>
          <p:nvPr/>
        </p:nvPicPr>
        <p:blipFill>
          <a:blip r:embed="rId5"/>
          <a:stretch/>
        </p:blipFill>
        <p:spPr>
          <a:xfrm>
            <a:off x="6523560" y="3613680"/>
            <a:ext cx="5475600" cy="2687400"/>
          </a:xfrm>
          <a:prstGeom prst="rect">
            <a:avLst/>
          </a:prstGeom>
          <a:ln w="0">
            <a:noFill/>
          </a:ln>
        </p:spPr>
      </p:pic>
      <p:sp>
        <p:nvSpPr>
          <p:cNvPr id="904" name="TextBox 17"/>
          <p:cNvSpPr/>
          <p:nvPr/>
        </p:nvSpPr>
        <p:spPr>
          <a:xfrm>
            <a:off x="7511400" y="6311520"/>
            <a:ext cx="349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85000"/>
                  </a:schemeClr>
                </a:solidFill>
                <a:latin typeface="Tw Cen MT"/>
              </a:rPr>
              <a:t>SEQ_LEN: 30, EPOCH: 50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5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906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108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733680" y="-14040"/>
            <a:ext cx="4450320" cy="10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Solution: </a:t>
            </a:r>
            <a:br>
              <a:rPr sz="2800"/>
            </a:b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Transfer </a:t>
            </a:r>
            <a:r>
              <a:rPr b="0" lang="en-US" sz="2800" spc="-1" strike="noStrike" cap="all">
                <a:solidFill>
                  <a:schemeClr val="dk1"/>
                </a:solidFill>
                <a:latin typeface="Tw Cen MT"/>
              </a:rPr>
              <a:t>Learning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Box 3"/>
          <p:cNvSpPr/>
          <p:nvPr/>
        </p:nvSpPr>
        <p:spPr>
          <a:xfrm>
            <a:off x="560520" y="804240"/>
            <a:ext cx="4458240" cy="49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3888"/>
          </a:bodyPr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Ιδέα: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Βάλε όλα τα train δεδομένα με τη σειρά σε ενα array. Κάνε το ίδιο και για τα testing σε ξεχωριστό array.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Με τις κατάλληλες υπερπαραμέτρους πρόβλεψε το τέλος αυτού του array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Καντο αυτό για horizon 5 και 15 ξεχωριστά, αποθηκεύοντας τα αρχεία με τα βάρη κατα την διαδικασία.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Τελος κάνε εισαγωγή τα αρχεία σε ξεχωριστό κώδικα που κάνει finetune σε τυχαίους κόμβους.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85840" indent="-228600" defTabSz="914400">
              <a:lnSpc>
                <a:spcPct val="110000"/>
              </a:lnSpc>
              <a:spcAft>
                <a:spcPts val="601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ΠΡΟΒΛΗΜΑ: ΞΕΜΕΝΟΥΜΕ ΑΠΟ RAM! (jesus colab)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09" name="Group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040" cy="6856920"/>
            <a:chOff x="0" y="0"/>
            <a:chExt cx="1220040" cy="6856920"/>
          </a:xfrm>
        </p:grpSpPr>
        <p:sp>
          <p:nvSpPr>
            <p:cNvPr id="910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1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2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3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8640" cy="181008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10080"/>
                <a:gd name="textAreaBottom" fmla="*/ 1811160 h 181008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4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5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8640" cy="142920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429200"/>
                <a:gd name="textAreaBottom" fmla="*/ 1430280 h 142920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6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7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8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9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200" cy="525960"/>
            </a:xfrm>
            <a:custGeom>
              <a:avLst/>
              <a:gdLst>
                <a:gd name="textAreaLeft" fmla="*/ 0 w 421200"/>
                <a:gd name="textAreaRight" fmla="*/ 422280 w 421200"/>
                <a:gd name="textAreaTop" fmla="*/ 0 h 525960"/>
                <a:gd name="textAreaBottom" fmla="*/ 527040 h 52596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0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0920" cy="14652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1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2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2760" cy="126000"/>
            </a:xfrm>
            <a:custGeom>
              <a:avLst/>
              <a:gdLst>
                <a:gd name="textAreaLeft" fmla="*/ 0 w 122760"/>
                <a:gd name="textAreaRight" fmla="*/ 123840 w 122760"/>
                <a:gd name="textAreaTop" fmla="*/ 0 h 126000"/>
                <a:gd name="textAreaBottom" fmla="*/ 127080 h 12600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3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6520" cy="479880"/>
            </a:xfrm>
            <a:custGeom>
              <a:avLst/>
              <a:gdLst>
                <a:gd name="textAreaLeft" fmla="*/ 0 w 146520"/>
                <a:gd name="textAreaRight" fmla="*/ 147600 w 146520"/>
                <a:gd name="textAreaTop" fmla="*/ 0 h 479880"/>
                <a:gd name="textAreaBottom" fmla="*/ 480960 h 47988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4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1840" cy="475200"/>
            </a:xfrm>
            <a:custGeom>
              <a:avLst/>
              <a:gdLst>
                <a:gd name="textAreaLeft" fmla="*/ 0 w 141840"/>
                <a:gd name="textAreaRight" fmla="*/ 142920 w 141840"/>
                <a:gd name="textAreaTop" fmla="*/ 0 h 475200"/>
                <a:gd name="textAreaBottom" fmla="*/ 476280 h 47520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5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3400" cy="106920"/>
            </a:xfrm>
            <a:custGeom>
              <a:avLst/>
              <a:gdLst>
                <a:gd name="textAreaLeft" fmla="*/ 0 w 113400"/>
                <a:gd name="textAreaRight" fmla="*/ 114480 w 11340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6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7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8640" cy="180072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00720"/>
                <a:gd name="textAreaBottom" fmla="*/ 1801800 h 180072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8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9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4600" cy="1215000"/>
            </a:xfrm>
            <a:custGeom>
              <a:avLst/>
              <a:gdLst>
                <a:gd name="textAreaLeft" fmla="*/ 0 w 84600"/>
                <a:gd name="textAreaRight" fmla="*/ 85680 w 84600"/>
                <a:gd name="textAreaTop" fmla="*/ 0 h 1215000"/>
                <a:gd name="textAreaBottom" fmla="*/ 1216080 h 121500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0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1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3680" cy="1424520"/>
            </a:xfrm>
            <a:custGeom>
              <a:avLst/>
              <a:gdLst>
                <a:gd name="textAreaLeft" fmla="*/ 0 w 373680"/>
                <a:gd name="textAreaRight" fmla="*/ 374760 w 373680"/>
                <a:gd name="textAreaTop" fmla="*/ 0 h 1424520"/>
                <a:gd name="textAreaBottom" fmla="*/ 1425600 h 142452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2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3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4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5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6520" cy="516600"/>
            </a:xfrm>
            <a:custGeom>
              <a:avLst/>
              <a:gdLst>
                <a:gd name="textAreaLeft" fmla="*/ 0 w 416520"/>
                <a:gd name="textAreaRight" fmla="*/ 417600 w 416520"/>
                <a:gd name="textAreaTop" fmla="*/ 0 h 516600"/>
                <a:gd name="textAreaBottom" fmla="*/ 517680 h 51660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6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240" cy="14652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937" name="Εικόνα 7"/>
          <p:cNvSpPr/>
          <p:nvPr/>
        </p:nvSpPr>
        <p:spPr>
          <a:xfrm>
            <a:off x="5428800" y="191880"/>
            <a:ext cx="6687000" cy="300852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3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Box 8"/>
          <p:cNvSpPr/>
          <p:nvPr/>
        </p:nvSpPr>
        <p:spPr>
          <a:xfrm>
            <a:off x="7354080" y="3200400"/>
            <a:ext cx="3471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95000"/>
                  </a:schemeClr>
                </a:solidFill>
                <a:latin typeface="Tw Cen MT"/>
              </a:rPr>
              <a:t>HORIZON: 5   Αναλυτικά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9" name="Εικόνα 42" descr="Εικόνα που περιέχει κείμενο, γραμματοσειρά, στιγμιότυπο οθόνης, τυπογραφία&#10;&#10;Το περιεχόμενο που δημιουργείται από τεχνολογία AI ενδέχεται να είναι εσφαλμένο."/>
          <p:cNvPicPr/>
          <p:nvPr/>
        </p:nvPicPr>
        <p:blipFill>
          <a:blip r:embed="rId4"/>
          <a:stretch/>
        </p:blipFill>
        <p:spPr>
          <a:xfrm>
            <a:off x="6682320" y="3671640"/>
            <a:ext cx="4519080" cy="1128960"/>
          </a:xfrm>
          <a:prstGeom prst="rect">
            <a:avLst/>
          </a:prstGeom>
          <a:ln w="0">
            <a:noFill/>
          </a:ln>
        </p:spPr>
      </p:pic>
      <p:sp>
        <p:nvSpPr>
          <p:cNvPr id="940" name="TextBox 43"/>
          <p:cNvSpPr/>
          <p:nvPr/>
        </p:nvSpPr>
        <p:spPr>
          <a:xfrm>
            <a:off x="7086600" y="4893120"/>
            <a:ext cx="3657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>
                    <a:lumMod val="95000"/>
                  </a:schemeClr>
                </a:solidFill>
                <a:latin typeface="Tw Cen MT"/>
              </a:rPr>
              <a:t>HORIZON: 15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481320" y="-101520"/>
            <a:ext cx="9577080" cy="97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TRANSFER &amp; ONLINE LEARNING ii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2" name="Θέση περιεχομένου 4" descr="Εικόνα που περιέχει κείμενο, στιγμιότυπο οθόνης, γραμματοσειρά&#10;&#10;Το περιεχόμενο που δημιουργείται από τεχνολογία AI ενδέχεται να είναι εσφαλμένο."/>
          <p:cNvPicPr/>
          <p:nvPr/>
        </p:nvPicPr>
        <p:blipFill>
          <a:blip r:embed="rId1"/>
          <a:stretch/>
        </p:blipFill>
        <p:spPr>
          <a:xfrm>
            <a:off x="1505520" y="1051560"/>
            <a:ext cx="7254360" cy="1803600"/>
          </a:xfrm>
          <a:prstGeom prst="rect">
            <a:avLst/>
          </a:prstGeom>
          <a:ln w="0">
            <a:noFill/>
          </a:ln>
        </p:spPr>
      </p:pic>
      <p:sp>
        <p:nvSpPr>
          <p:cNvPr id="943" name="TextBox 5"/>
          <p:cNvSpPr/>
          <p:nvPr/>
        </p:nvSpPr>
        <p:spPr>
          <a:xfrm>
            <a:off x="1726920" y="609120"/>
            <a:ext cx="101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Τα 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hyperparameters </a:t>
            </a: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που χρησιμοποιήσαμε είναι τα εξής: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4" name="Εικόνα 7" descr="Εικόνα που περιέχει κείμενο, στιγμιότυπο οθόνης, γραμματοσειρά, αριθμός&#10;&#10;Το περιεχόμενο που δημιουργείται από τεχνολογία AI ενδέχεται να είναι εσφαλμένο."/>
          <p:cNvPicPr/>
          <p:nvPr/>
        </p:nvPicPr>
        <p:blipFill>
          <a:blip r:embed="rId2"/>
          <a:stretch/>
        </p:blipFill>
        <p:spPr>
          <a:xfrm>
            <a:off x="861840" y="3733200"/>
            <a:ext cx="1666080" cy="2075760"/>
          </a:xfrm>
          <a:prstGeom prst="rect">
            <a:avLst/>
          </a:prstGeom>
          <a:ln w="0">
            <a:noFill/>
          </a:ln>
        </p:spPr>
      </p:pic>
      <p:sp>
        <p:nvSpPr>
          <p:cNvPr id="945" name="TextBox 8"/>
          <p:cNvSpPr/>
          <p:nvPr/>
        </p:nvSpPr>
        <p:spPr>
          <a:xfrm>
            <a:off x="1047600" y="3181320"/>
            <a:ext cx="1357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Πρώτο 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6" name="Εικόνα 10" descr="Εικόνα που περιέχει κείμενο, στιγμιότυπο οθόνης, γραμματοσειρά, κατάλογος&#10;&#10;Το περιεχόμενο που δημιουργείται από τεχνολογία AI ενδέχεται να είναι εσφαλμένο."/>
          <p:cNvPicPr/>
          <p:nvPr/>
        </p:nvPicPr>
        <p:blipFill>
          <a:blip r:embed="rId3"/>
          <a:srcRect l="0" t="9521" r="0" b="47929"/>
          <a:stretch/>
        </p:blipFill>
        <p:spPr>
          <a:xfrm>
            <a:off x="2775960" y="3733200"/>
            <a:ext cx="2469960" cy="1237680"/>
          </a:xfrm>
          <a:prstGeom prst="rect">
            <a:avLst/>
          </a:prstGeom>
          <a:ln w="0">
            <a:noFill/>
          </a:ln>
        </p:spPr>
      </p:pic>
      <p:pic>
        <p:nvPicPr>
          <p:cNvPr id="947" name="Εικόνα 11" descr="Εικόνα που περιέχει κείμενο, στιγμιότυπο οθόνης, γραμματοσειρά, κατάλογος&#10;&#10;Το περιεχόμενο που δημιουργείται από τεχνολογία AI ενδέχεται να είναι εσφαλμένο."/>
          <p:cNvPicPr/>
          <p:nvPr/>
        </p:nvPicPr>
        <p:blipFill>
          <a:blip r:embed="rId4"/>
          <a:srcRect l="0" t="53202" r="16508" b="2891"/>
          <a:stretch/>
        </p:blipFill>
        <p:spPr>
          <a:xfrm>
            <a:off x="2775960" y="5102280"/>
            <a:ext cx="2062080" cy="1277280"/>
          </a:xfrm>
          <a:prstGeom prst="rect">
            <a:avLst/>
          </a:prstGeom>
          <a:ln w="0">
            <a:noFill/>
          </a:ln>
        </p:spPr>
      </p:pic>
      <p:sp>
        <p:nvSpPr>
          <p:cNvPr id="948" name="TextBox 12"/>
          <p:cNvSpPr/>
          <p:nvPr/>
        </p:nvSpPr>
        <p:spPr>
          <a:xfrm>
            <a:off x="5788440" y="3571560"/>
            <a:ext cx="33811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Τα καινούργια αποτελέσματα μετά τις βελτιώσεις μας ήταν πολύ πιο κοντά στον στόχο μας (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MAPE &lt; 10%</a:t>
            </a: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9" name="Εικόνα 14" descr="Εικόνα που περιέχει κείμενο, στιγμιότυπο οθόνης&#10;&#10;Το περιεχόμενο που δημιουργείται από τεχνολογία AI ενδέχεται να είναι εσφαλμένο."/>
          <p:cNvPicPr/>
          <p:nvPr/>
        </p:nvPicPr>
        <p:blipFill>
          <a:blip r:embed="rId5"/>
          <a:srcRect l="0" t="24625" r="-274" b="48436"/>
          <a:stretch/>
        </p:blipFill>
        <p:spPr>
          <a:xfrm>
            <a:off x="9626040" y="3462480"/>
            <a:ext cx="2269440" cy="1694160"/>
          </a:xfrm>
          <a:prstGeom prst="rect">
            <a:avLst/>
          </a:prstGeom>
          <a:ln w="0">
            <a:noFill/>
          </a:ln>
        </p:spPr>
      </p:pic>
      <p:cxnSp>
        <p:nvCxnSpPr>
          <p:cNvPr id="950" name="Ευθύγραμμο βέλος σύνδεσης 16"/>
          <p:cNvCxnSpPr/>
          <p:nvPr/>
        </p:nvCxnSpPr>
        <p:spPr>
          <a:xfrm flipH="1" flipV="1">
            <a:off x="5947920" y="4827600"/>
            <a:ext cx="3100680" cy="64800"/>
          </a:xfrm>
          <a:prstGeom prst="straightConnector1">
            <a:avLst/>
          </a:prstGeom>
          <a:ln w="57150">
            <a:solidFill>
              <a:srgbClr val="9acd4c"/>
            </a:solidFill>
            <a:round/>
            <a:tailEnd len="med" type="triangle" w="med"/>
          </a:ln>
        </p:spPr>
      </p:cxnSp>
      <p:pic>
        <p:nvPicPr>
          <p:cNvPr id="951" name="Εικόνα 20" descr="Εικόνα που περιέχει κείμενο, στιγμιότυπο οθόνης&#10;&#10;Το περιεχόμενο που δημιουργείται από τεχνολογία AI ενδέχεται να είναι εσφαλμένο."/>
          <p:cNvPicPr/>
          <p:nvPr/>
        </p:nvPicPr>
        <p:blipFill>
          <a:blip r:embed="rId6"/>
          <a:srcRect l="0" t="70367" r="-274" b="2703"/>
          <a:stretch/>
        </p:blipFill>
        <p:spPr>
          <a:xfrm>
            <a:off x="9626040" y="5326200"/>
            <a:ext cx="2469960" cy="1843920"/>
          </a:xfrm>
          <a:prstGeom prst="rect">
            <a:avLst/>
          </a:prstGeom>
          <a:ln w="0">
            <a:noFill/>
          </a:ln>
        </p:spPr>
      </p:pic>
      <p:sp>
        <p:nvSpPr>
          <p:cNvPr id="952" name="Ορθογώνιο 21"/>
          <p:cNvSpPr/>
          <p:nvPr/>
        </p:nvSpPr>
        <p:spPr>
          <a:xfrm>
            <a:off x="521280" y="3107160"/>
            <a:ext cx="4993560" cy="356796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l-GR" sz="1800" spc="-1" strike="noStrike">
              <a:solidFill>
                <a:schemeClr val="lt1"/>
              </a:solidFill>
              <a:latin typeface="Tw Cen MT"/>
            </a:endParaRPr>
          </a:p>
        </p:txBody>
      </p:sp>
      <p:cxnSp>
        <p:nvCxnSpPr>
          <p:cNvPr id="953" name="Ευθύγραμμο βέλος σύνδεσης 22"/>
          <p:cNvCxnSpPr/>
          <p:nvPr/>
        </p:nvCxnSpPr>
        <p:spPr>
          <a:xfrm flipH="1" flipV="1">
            <a:off x="5910840" y="5904000"/>
            <a:ext cx="3137760" cy="79920"/>
          </a:xfrm>
          <a:prstGeom prst="straightConnector1">
            <a:avLst/>
          </a:prstGeom>
          <a:ln w="57150">
            <a:solidFill>
              <a:srgbClr val="9acd4c"/>
            </a:solidFill>
            <a:round/>
            <a:tailEnd len="med" type="triangle" w="med"/>
          </a:ln>
        </p:spPr>
      </p:cxnSp>
      <p:sp>
        <p:nvSpPr>
          <p:cNvPr id="954" name="TextBox 25"/>
          <p:cNvSpPr/>
          <p:nvPr/>
        </p:nvSpPr>
        <p:spPr>
          <a:xfrm>
            <a:off x="10316160" y="2967840"/>
            <a:ext cx="1090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1</a:t>
            </a:r>
            <a:r>
              <a:rPr b="0" lang="en-US" sz="1800" spc="-1" strike="noStrike" baseline="30000">
                <a:solidFill>
                  <a:schemeClr val="dk1"/>
                </a:solidFill>
                <a:latin typeface="Tw Cen MT"/>
              </a:rPr>
              <a:t>st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 Model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1249560" y="72720"/>
            <a:ext cx="163008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-GR" sz="3600" spc="-1" strike="noStrike" cap="all">
                <a:solidFill>
                  <a:schemeClr val="dk1"/>
                </a:solidFill>
                <a:latin typeface="Tw Cen MT"/>
              </a:rPr>
              <a:t>ΤΕΣΤ ιι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/>
          </p:nvPr>
        </p:nvSpPr>
        <p:spPr>
          <a:xfrm>
            <a:off x="925200" y="843480"/>
            <a:ext cx="9905040" cy="166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Σε αυτό το σημείο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αποφασίσαμε να μην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αλλάξουμε άλλο το μοντέλο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μας και να δούμε τι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αποτελέσματα μπορούμε να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πάρουμε πειράζοντας τα 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hyperparameters.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7" name="Εικόνα 6" descr="Εικόνα που περιέχει κείμενο, στιγμιότυπο οθόνης, λογισμικό, λογισμικό πολυμέσων&#10;&#10;Το περιεχόμενο που δημιουργείται από τεχνολογία AI ενδέχεται να είναι εσφαλμένο."/>
          <p:cNvPicPr/>
          <p:nvPr/>
        </p:nvPicPr>
        <p:blipFill>
          <a:blip r:embed="rId1"/>
          <a:srcRect l="0" t="12184" r="3057" b="0"/>
          <a:stretch/>
        </p:blipFill>
        <p:spPr>
          <a:xfrm>
            <a:off x="3485160" y="2507400"/>
            <a:ext cx="2685240" cy="3102480"/>
          </a:xfrm>
          <a:prstGeom prst="rect">
            <a:avLst/>
          </a:prstGeom>
          <a:ln w="0">
            <a:noFill/>
          </a:ln>
        </p:spPr>
      </p:pic>
      <p:pic>
        <p:nvPicPr>
          <p:cNvPr id="958" name="Εικόνα 8" descr="Εικόνα που περιέχει κείμενο, στιγμιότυπο οθόνης, γραμματοσειρά, αριθμός&#10;&#10;Το περιεχόμενο που δημιουργείται από τεχνολογία AI ενδέχεται να είναι εσφαλμένο."/>
          <p:cNvPicPr/>
          <p:nvPr/>
        </p:nvPicPr>
        <p:blipFill>
          <a:blip r:embed="rId2"/>
          <a:stretch/>
        </p:blipFill>
        <p:spPr>
          <a:xfrm>
            <a:off x="532440" y="2507400"/>
            <a:ext cx="2685240" cy="3075840"/>
          </a:xfrm>
          <a:prstGeom prst="rect">
            <a:avLst/>
          </a:prstGeom>
          <a:ln w="0">
            <a:noFill/>
          </a:ln>
        </p:spPr>
      </p:pic>
      <p:sp>
        <p:nvSpPr>
          <p:cNvPr id="959" name="TextBox 9"/>
          <p:cNvSpPr/>
          <p:nvPr/>
        </p:nvSpPr>
        <p:spPr>
          <a:xfrm>
            <a:off x="7017480" y="1969200"/>
            <a:ext cx="4111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l-GR" sz="1800" spc="-1" strike="noStrike">
                <a:solidFill>
                  <a:schemeClr val="accent3">
                    <a:lumMod val="50000"/>
                  </a:schemeClr>
                </a:solidFill>
                <a:latin typeface="Tw Cen MT"/>
              </a:rPr>
              <a:t>Πώς το </a:t>
            </a:r>
            <a:r>
              <a:rPr b="0" lang="en-US" sz="1800" spc="-1" strike="noStrike">
                <a:solidFill>
                  <a:schemeClr val="accent3">
                    <a:lumMod val="50000"/>
                  </a:schemeClr>
                </a:solidFill>
                <a:latin typeface="Tw Cen MT"/>
              </a:rPr>
              <a:t>transfer learning </a:t>
            </a:r>
            <a:r>
              <a:rPr b="0" lang="el-GR" sz="1800" spc="-1" strike="noStrike">
                <a:solidFill>
                  <a:schemeClr val="accent3">
                    <a:lumMod val="50000"/>
                  </a:schemeClr>
                </a:solidFill>
                <a:latin typeface="Tw Cen MT"/>
              </a:rPr>
              <a:t>μας βοήθησε</a:t>
            </a:r>
            <a:r>
              <a:rPr b="0" lang="en-US" sz="1800" spc="-1" strike="noStrike">
                <a:solidFill>
                  <a:schemeClr val="accent3">
                    <a:lumMod val="50000"/>
                  </a:schemeClr>
                </a:solidFill>
                <a:latin typeface="Tw Cen MT"/>
              </a:rPr>
              <a:t>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TextBox 16"/>
          <p:cNvSpPr/>
          <p:nvPr/>
        </p:nvSpPr>
        <p:spPr>
          <a:xfrm>
            <a:off x="6438240" y="2507400"/>
            <a:ext cx="55785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Χρησιμοποιούνται ξανά σε νέα δεδομένα ή νέους κόμβους χωρίς επανεκπαίδευση από την αρχή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Το μοντέλο με έτοιμα βάρη ξεκινά ήδη "εκπαιδευμένο" και μαθαίνει μόνο τις νέες ιδιαιτερότητες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Μπορούμε να επαναλάβουμε πειράματα με τα ίδια αρχικά βάρη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Δεν χάνουμε την πρόοδο της εκπαίδευσης σε περίπτωση διακοπής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l-GR" sz="1800" spc="-1" strike="noStrike">
                <a:solidFill>
                  <a:schemeClr val="dk1"/>
                </a:solidFill>
                <a:latin typeface="Tw Cen MT"/>
              </a:rPr>
              <a:t>Αποφεύγεται η χρονοβόρα αρχική εκπαίδευση κάθε φορά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229760" y="117000"/>
            <a:ext cx="7706520" cy="74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-GR" sz="3600" spc="-1" strike="noStrike" cap="all">
                <a:solidFill>
                  <a:schemeClr val="dk1"/>
                </a:solidFill>
                <a:latin typeface="Tw Cen MT"/>
              </a:rPr>
              <a:t>Γιατι δουλευει το </a:t>
            </a: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transfer learning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/>
          </p:nvPr>
        </p:nvSpPr>
        <p:spPr>
          <a:xfrm>
            <a:off x="1229760" y="1158120"/>
            <a:ext cx="10154880" cy="476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Παρόλο που οι κόμβοι (nodes) είναι διαφορετικοί, όλοι παράγουν χρονικές σειρές της ίδιας φύσης: τη χρήση CPU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. To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μοντέλο μαθαίνει γενικά χαρακτηριστικά της δυναμικής των χρονικών σειρών στη φάση της βασικής εκπαίδευσης και τα μεταφέρει με επιτυχία στους νέους κόμβους.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Τα LSTM layers λειτουργούν ως extractors χρονικών χαρακτηριστικών (temporal feature extractors). Στο transfer learning, οι πρώτες στρώσεις του μοντέλου (LSTM layers) μαθαίνουν γενικές αναπαραστάσεις όπως:Εποχιακές μεταβολέςΤάσεις (trends)Μεταβατικές καταστάσεις (transitions)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.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 Αυτές παραμένουν χρήσιμες και κατά το fine-tuning, όπου απλώς προσαρμόζονται σε πιο τοπικά πρότυπα ενός συγκεκριμένου κόμβου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.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To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fine-tuning χρειάζεται πολύ λιγότερα δεδομένα απ’ ό,τι ένα μοντέλο που εκπαιδεύεται από την αρχή γιατί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l-GR" sz="2400" spc="-1" strike="noStrike">
                <a:solidFill>
                  <a:schemeClr val="dk1"/>
                </a:solidFill>
                <a:latin typeface="Tw Cen MT"/>
              </a:rPr>
              <a:t>ήδη υπάρχει μια "βάση γνώσης" από το pretrained μοντέλο. Αρκεί να γίνει μικρή προσαρμογή στα weights.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964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765000" y="126720"/>
            <a:ext cx="445824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-GR" sz="3200" spc="-1" strike="noStrike" cap="all">
                <a:solidFill>
                  <a:schemeClr val="dk1"/>
                </a:solidFill>
                <a:latin typeface="Tw Cen MT"/>
              </a:rPr>
              <a:t>Δημιουργια </a:t>
            </a: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gru </a:t>
            </a:r>
            <a:r>
              <a:rPr b="0" lang="el-GR" sz="3200" spc="-1" strike="noStrike" cap="all">
                <a:solidFill>
                  <a:schemeClr val="dk1"/>
                </a:solidFill>
                <a:latin typeface="Tw Cen MT"/>
              </a:rPr>
              <a:t>μοντελου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304920" y="1491120"/>
            <a:ext cx="4458240" cy="39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l-GR" sz="2000" spc="-1" strike="noStrike">
                <a:solidFill>
                  <a:schemeClr val="dk1"/>
                </a:solidFill>
                <a:latin typeface="Tw Cen MT"/>
              </a:rPr>
              <a:t>Δουλέψαμε πάνω στο ίδιο, ήδη </a:t>
            </a: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preprocessed</a:t>
            </a:r>
            <a:r>
              <a:rPr b="0" lang="el-GR" sz="2000" spc="-1" strike="noStrike">
                <a:solidFill>
                  <a:schemeClr val="dk1"/>
                </a:solidFill>
                <a:latin typeface="Tw Cen MT"/>
              </a:rPr>
              <a:t>, αρχείο. Και με το κατάλληλο </a:t>
            </a: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tweaking</a:t>
            </a:r>
            <a:r>
              <a:rPr b="0" lang="el-GR" sz="2000" spc="-1" strike="noStrike">
                <a:solidFill>
                  <a:schemeClr val="dk1"/>
                </a:solidFill>
                <a:latin typeface="Tw Cen MT"/>
              </a:rPr>
              <a:t>, «παίξαμε» με τις παραμέτρους ώστε να δούμε πώς θα κάνουμε την καλύτερη δυνατή πρόβλεψη.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Εικόνα 4"/>
          <p:cNvSpPr/>
          <p:nvPr/>
        </p:nvSpPr>
        <p:spPr>
          <a:xfrm>
            <a:off x="6431040" y="59040"/>
            <a:ext cx="5455080" cy="2999880"/>
          </a:xfrm>
          <a:prstGeom prst="round2DiagRect">
            <a:avLst>
              <a:gd name="adj1" fmla="val 5608"/>
              <a:gd name="adj2" fmla="val 0"/>
            </a:avLst>
          </a:prstGeom>
          <a:blipFill rotWithShape="0">
            <a:blip r:embed="rId3"/>
            <a:srcRect/>
            <a:stretch/>
          </a:blipFill>
          <a:ln cap="sq" w="19050">
            <a:solidFill>
              <a:srgbClr val="b4ffff">
                <a:alpha val="60000"/>
              </a:srgbClr>
            </a:solidFill>
            <a:miter/>
          </a:ln>
          <a:effectLst>
            <a:outerShdw algn="t" blurRad="88920" dir="5400000" dist="381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8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040" cy="6856920"/>
            <a:chOff x="0" y="0"/>
            <a:chExt cx="1220040" cy="6856920"/>
          </a:xfrm>
        </p:grpSpPr>
        <p:sp>
          <p:nvSpPr>
            <p:cNvPr id="96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8640" cy="181008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10080"/>
                <a:gd name="textAreaBottom" fmla="*/ 1811160 h 181008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8640" cy="142920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429200"/>
                <a:gd name="textAreaBottom" fmla="*/ 1430280 h 142920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200" cy="525960"/>
            </a:xfrm>
            <a:custGeom>
              <a:avLst/>
              <a:gdLst>
                <a:gd name="textAreaLeft" fmla="*/ 0 w 421200"/>
                <a:gd name="textAreaRight" fmla="*/ 422280 w 421200"/>
                <a:gd name="textAreaTop" fmla="*/ 0 h 525960"/>
                <a:gd name="textAreaBottom" fmla="*/ 527040 h 52596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0920" cy="14652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0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2760" cy="126000"/>
            </a:xfrm>
            <a:custGeom>
              <a:avLst/>
              <a:gdLst>
                <a:gd name="textAreaLeft" fmla="*/ 0 w 122760"/>
                <a:gd name="textAreaRight" fmla="*/ 123840 w 122760"/>
                <a:gd name="textAreaTop" fmla="*/ 0 h 126000"/>
                <a:gd name="textAreaBottom" fmla="*/ 127080 h 12600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6520" cy="479880"/>
            </a:xfrm>
            <a:custGeom>
              <a:avLst/>
              <a:gdLst>
                <a:gd name="textAreaLeft" fmla="*/ 0 w 146520"/>
                <a:gd name="textAreaRight" fmla="*/ 147600 w 146520"/>
                <a:gd name="textAreaTop" fmla="*/ 0 h 479880"/>
                <a:gd name="textAreaBottom" fmla="*/ 480960 h 47988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1840" cy="475200"/>
            </a:xfrm>
            <a:custGeom>
              <a:avLst/>
              <a:gdLst>
                <a:gd name="textAreaLeft" fmla="*/ 0 w 141840"/>
                <a:gd name="textAreaRight" fmla="*/ 142920 w 141840"/>
                <a:gd name="textAreaTop" fmla="*/ 0 h 475200"/>
                <a:gd name="textAreaBottom" fmla="*/ 476280 h 47520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3400" cy="106920"/>
            </a:xfrm>
            <a:custGeom>
              <a:avLst/>
              <a:gdLst>
                <a:gd name="textAreaLeft" fmla="*/ 0 w 113400"/>
                <a:gd name="textAreaRight" fmla="*/ 114480 w 11340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5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2680" cy="218016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8640" cy="180072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800720"/>
                <a:gd name="textAreaBottom" fmla="*/ 1801800 h 180072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4600" cy="1215000"/>
            </a:xfrm>
            <a:custGeom>
              <a:avLst/>
              <a:gdLst>
                <a:gd name="textAreaLeft" fmla="*/ 0 w 84600"/>
                <a:gd name="textAreaRight" fmla="*/ 85680 w 84600"/>
                <a:gd name="textAreaTop" fmla="*/ 0 h 1215000"/>
                <a:gd name="textAreaBottom" fmla="*/ 1216080 h 121500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89360" cy="18792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3680" cy="1424520"/>
            </a:xfrm>
            <a:custGeom>
              <a:avLst/>
              <a:gdLst>
                <a:gd name="textAreaLeft" fmla="*/ 0 w 373680"/>
                <a:gd name="textAreaRight" fmla="*/ 374760 w 373680"/>
                <a:gd name="textAreaTop" fmla="*/ 0 h 1424520"/>
                <a:gd name="textAreaBottom" fmla="*/ 1425600 h 142452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200" cy="91188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911880"/>
                <a:gd name="textAreaBottom" fmla="*/ 912960 h 91188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89360" cy="189360"/>
            </a:xfrm>
            <a:custGeom>
              <a:avLst/>
              <a:gdLst>
                <a:gd name="textAreaLeft" fmla="*/ 0 w 189360"/>
                <a:gd name="textAreaRight" fmla="*/ 190440 w 189360"/>
                <a:gd name="textAreaTop" fmla="*/ 0 h 189360"/>
                <a:gd name="textAreaBottom" fmla="*/ 190440 h 18936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6520" cy="516600"/>
            </a:xfrm>
            <a:custGeom>
              <a:avLst/>
              <a:gdLst>
                <a:gd name="textAreaLeft" fmla="*/ 0 w 416520"/>
                <a:gd name="textAreaRight" fmla="*/ 417600 w 416520"/>
                <a:gd name="textAreaTop" fmla="*/ 0 h 516600"/>
                <a:gd name="textAreaBottom" fmla="*/ 517680 h 51660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240" cy="146520"/>
            </a:xfrm>
            <a:custGeom>
              <a:avLst/>
              <a:gdLst>
                <a:gd name="textAreaLeft" fmla="*/ 0 w 156240"/>
                <a:gd name="textAreaRight" fmla="*/ 157320 w 156240"/>
                <a:gd name="textAreaTop" fmla="*/ 0 h 146520"/>
                <a:gd name="textAreaBottom" fmla="*/ 147600 h 14652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l-GR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996" name="TextBox 5"/>
          <p:cNvSpPr/>
          <p:nvPr/>
        </p:nvSpPr>
        <p:spPr>
          <a:xfrm>
            <a:off x="6640920" y="3131280"/>
            <a:ext cx="510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LONG HORIZON(15) COMPARISON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7" name="Εικόνα 7" descr="Εικόνα που περιέχει γραμμή, γράφημα, διάγραμμα, πλαγιά&#10;&#10;Το περιεχόμενο που δημιουργείται από τεχνολογία AI ενδέχεται να είναι εσφαλμένο."/>
          <p:cNvPicPr/>
          <p:nvPr/>
        </p:nvPicPr>
        <p:blipFill>
          <a:blip r:embed="rId4"/>
          <a:stretch/>
        </p:blipFill>
        <p:spPr>
          <a:xfrm>
            <a:off x="6431040" y="3568680"/>
            <a:ext cx="5521680" cy="2779200"/>
          </a:xfrm>
          <a:prstGeom prst="rect">
            <a:avLst/>
          </a:prstGeom>
          <a:ln w="0">
            <a:noFill/>
          </a:ln>
        </p:spPr>
      </p:pic>
      <p:sp>
        <p:nvSpPr>
          <p:cNvPr id="998" name="TextBox 8"/>
          <p:cNvSpPr/>
          <p:nvPr/>
        </p:nvSpPr>
        <p:spPr>
          <a:xfrm>
            <a:off x="6715080" y="6339240"/>
            <a:ext cx="510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SHORT HORIZON(5) COMPARISON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9" name="Εικόνα 12" descr="Εικόνα που περιέχει διάγραμμα, γραμμή, γράφημα, πλαγιά"/>
          <p:cNvPicPr/>
          <p:nvPr/>
        </p:nvPicPr>
        <p:blipFill>
          <a:blip r:embed="rId5"/>
          <a:stretch/>
        </p:blipFill>
        <p:spPr>
          <a:xfrm>
            <a:off x="233280" y="3761640"/>
            <a:ext cx="5297400" cy="29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Κύκλωμα">
  <a:themeElements>
    <a:clrScheme name="Κύκλωμα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Κύκλωμα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>Κύκλωμα</Template>
  <TotalTime>3058</TotalTime>
  <Application>LibreOffice/24.2.7.2$Linux_X86_64 LibreOffice_project/420$Build-2</Application>
  <AppVersion>15.0000</AppVersion>
  <Words>1007</Words>
  <Paragraphs>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2025-04-02T16:42:51Z</dcterms:created>
  <dc:creator>ΤΑΣΗΣ ΑΘΑΝΑΣΙΟΣ</dc:creator>
  <dc:description/>
  <dc:language>en-US</dc:language>
  <cp:lastModifiedBy/>
  <dcterms:modified xsi:type="dcterms:W3CDTF">2025-05-25T20:13:38Z</dcterms:modified>
  <cp:revision>56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Ευρεία οθόνη</vt:lpwstr>
  </property>
  <property fmtid="{D5CDD505-2E9C-101B-9397-08002B2CF9AE}" pid="4" name="Slides">
    <vt:i4>13</vt:i4>
  </property>
</Properties>
</file>